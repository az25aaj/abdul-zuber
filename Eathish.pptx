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Group B 165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B 165                  Names of Student Attendees:</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349770" y="1411094"/>
            <a:ext cx="9753625" cy="230832"/>
          </a:xfrm>
        </p:spPr>
        <p:txBody>
          <a:bodyPr vert="horz" lIns="0" tIns="0" rIns="0" bIns="0" rtlCol="0" anchor="t">
            <a:noAutofit/>
          </a:bodyPr>
          <a:lstStyle/>
          <a:p>
            <a:pPr>
              <a:spcAft>
                <a:spcPts val="0"/>
              </a:spcAft>
            </a:pPr>
            <a:r>
              <a:rPr lang="en-US" dirty="0"/>
              <a:t>Dataset Summary</a:t>
            </a:r>
            <a:r>
              <a:rPr lang="en-GB" dirty="0">
                <a:solidFill>
                  <a:srgbClr val="203232"/>
                </a:solidFill>
                <a:cs typeface="Arial"/>
              </a:rPr>
              <a: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349770" y="2031166"/>
            <a:ext cx="6290873" cy="3415740"/>
          </a:xfrm>
        </p:spPr>
        <p:txBody>
          <a:bodyPr>
            <a:normAutofit fontScale="90000"/>
          </a:bodyPr>
          <a:lstStyle/>
          <a:p>
            <a:pPr>
              <a:lnSpc>
                <a:spcPct val="150000"/>
              </a:lnSpc>
            </a:pPr>
            <a:r>
              <a:rPr lang="en-US" sz="2400" dirty="0"/>
              <a:t>Dataset ID: Mobius.csv (extracted from IoT Coins Dataset)</a:t>
            </a:r>
            <a:br>
              <a:rPr lang="en-US" sz="2400" dirty="0"/>
            </a:br>
            <a:r>
              <a:rPr lang="en-US" sz="2400" dirty="0"/>
              <a:t>Rows: 398</a:t>
            </a:r>
            <a:br>
              <a:rPr lang="en-US" sz="2400" dirty="0"/>
            </a:br>
            <a:r>
              <a:rPr lang="en-US" sz="2400" dirty="0"/>
              <a:t>Variables used:</a:t>
            </a:r>
            <a:br>
              <a:rPr lang="en-US" sz="2400" dirty="0"/>
            </a:br>
            <a:r>
              <a:rPr lang="en-US" sz="2400" dirty="0"/>
              <a:t>Independent Variable: Opening Price (interval)</a:t>
            </a:r>
            <a:br>
              <a:rPr lang="en-US" sz="2400" dirty="0"/>
            </a:br>
            <a:r>
              <a:rPr lang="en-US" sz="2400" dirty="0"/>
              <a:t>Dependent Variable: Closing Price (interval)</a:t>
            </a:r>
            <a:br>
              <a:rPr lang="en-US" sz="2400" dirty="0"/>
            </a:br>
            <a:br>
              <a:rPr lang="en-US" sz="1800" dirty="0">
                <a:solidFill>
                  <a:srgbClr val="FF0000"/>
                </a:solidFill>
              </a:rPr>
            </a:br>
            <a:br>
              <a:rPr lang="en-US" sz="1800" dirty="0">
                <a:solidFill>
                  <a:srgbClr val="FF0000"/>
                </a:solidFill>
              </a:rPr>
            </a:br>
            <a:br>
              <a:rPr lang="en-GB" sz="1800" dirty="0">
                <a:solidFill>
                  <a:srgbClr val="FF0000"/>
                </a:solidFill>
                <a:cs typeface="Arial"/>
              </a:rPr>
            </a:br>
            <a:br>
              <a:rPr lang="en-GB" sz="1800" dirty="0">
                <a:solidFill>
                  <a:srgbClr val="FF0000"/>
                </a:solidFill>
                <a:cs typeface="Arial"/>
              </a:rPr>
            </a:br>
            <a:endParaRPr lang="en-GB" sz="1800" dirty="0">
              <a:solidFill>
                <a:srgbClr val="FF0000"/>
              </a:solidFill>
              <a:cs typeface="Arial"/>
            </a:endParaRPr>
          </a:p>
          <a:p>
            <a:endParaRPr lang="en-US" sz="1800" dirty="0">
              <a:solidFill>
                <a:srgbClr val="FF0000"/>
              </a:solidFill>
              <a:cs typeface="Arial"/>
            </a:endParaRPr>
          </a:p>
        </p:txBody>
      </p:sp>
      <p:pic>
        <p:nvPicPr>
          <p:cNvPr id="7" name="Picture 6" descr="A screenshot of a computer&#10;&#10;AI-generated content may be incorrect.">
            <a:extLst>
              <a:ext uri="{FF2B5EF4-FFF2-40B4-BE49-F238E27FC236}">
                <a16:creationId xmlns:a16="http://schemas.microsoft.com/office/drawing/2014/main" id="{3D77D18D-287C-2F60-2C3D-82B58E1C9492}"/>
              </a:ext>
            </a:extLst>
          </p:cNvPr>
          <p:cNvPicPr>
            <a:picLocks noChangeAspect="1"/>
          </p:cNvPicPr>
          <p:nvPr/>
        </p:nvPicPr>
        <p:blipFill>
          <a:blip r:embed="rId3"/>
          <a:stretch>
            <a:fillRect/>
          </a:stretch>
        </p:blipFill>
        <p:spPr>
          <a:xfrm>
            <a:off x="5562994" y="2689450"/>
            <a:ext cx="6114354" cy="3377528"/>
          </a:xfrm>
          <a:prstGeom prst="rect">
            <a:avLst/>
          </a:prstGeom>
        </p:spPr>
      </p:pic>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dirty="0">
                <a:solidFill>
                  <a:srgbClr val="FF0000"/>
                </a:solidFill>
              </a:rPr>
              <a:t>: DS300</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B 165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9" y="1873115"/>
            <a:ext cx="9989224" cy="3699793"/>
          </a:xfrm>
        </p:spPr>
        <p:txBody>
          <a:bodyPr>
            <a:noAutofit/>
          </a:bodyPr>
          <a:lstStyle/>
          <a:p>
            <a:pPr>
              <a:lnSpc>
                <a:spcPct val="150000"/>
              </a:lnSpc>
            </a:pPr>
            <a:r>
              <a:rPr lang="en-US" sz="2400" b="0" dirty="0">
                <a:latin typeface="Calibri" panose="020F0502020204030204" pitchFamily="34" charset="0"/>
                <a:ea typeface="Calibri" panose="020F0502020204030204" pitchFamily="34" charset="0"/>
                <a:cs typeface="Calibri" panose="020F0502020204030204" pitchFamily="34" charset="0"/>
              </a:rPr>
              <a:t>This dataset is interesting to us because:</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Mobius is a small-cap cryptocurrency with strong intraday price variation, making it ideal for studying opening–closing price relationships.</a:t>
            </a:r>
            <a:br>
              <a:rPr lang="en-US" sz="2400" b="0" dirty="0">
                <a:latin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Variables used in our Research Question</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Opening Price (Independent variable – interval / numeric)</a:t>
            </a:r>
            <a:br>
              <a:rPr lang="en-US" sz="2400" b="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Closing Price (Dependent variable – interval / numeric)</a:t>
            </a:r>
            <a:br>
              <a:rPr lang="en-US" sz="2400" dirty="0">
                <a:latin typeface="Calibri" panose="020F0502020204030204" pitchFamily="34" charset="0"/>
                <a:ea typeface="Calibri" panose="020F0502020204030204" pitchFamily="34" charset="0"/>
                <a:cs typeface="Calibri" panose="020F0502020204030204" pitchFamily="34" charset="0"/>
              </a:rPr>
            </a:br>
            <a:endParaRPr lang="en-US" sz="2400" b="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165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9" y="1842339"/>
            <a:ext cx="10961306" cy="4173064"/>
          </a:xfrm>
        </p:spPr>
        <p:txBody>
          <a:bodyPr>
            <a:noAutofit/>
          </a:bodyPr>
          <a:lstStyle/>
          <a:p>
            <a:pPr>
              <a:lnSpc>
                <a:spcPct val="150000"/>
              </a:lnSpc>
            </a:pPr>
            <a:r>
              <a:rPr lang="en-US" sz="2400" dirty="0"/>
              <a:t>“Is there a significant correlation between the daily opening price (independent variable) and the daily closing price (dependent variable) for the Mobius cryptocurrency?”</a:t>
            </a:r>
            <a:br>
              <a:rPr lang="en-US" sz="2400" dirty="0"/>
            </a:br>
            <a:r>
              <a:rPr lang="en-US" sz="2400" dirty="0"/>
              <a:t>This follows Template 1 (Correlation):</a:t>
            </a:r>
            <a:br>
              <a:rPr lang="en-US" sz="2400" dirty="0"/>
            </a:br>
            <a:r>
              <a:rPr lang="en-US" sz="2400" dirty="0"/>
              <a:t>“Is there a correlation between </a:t>
            </a:r>
            <a:r>
              <a:rPr lang="en-US" sz="2400" i="1" dirty="0"/>
              <a:t>dependent interval variable</a:t>
            </a:r>
            <a:r>
              <a:rPr lang="en-US" sz="2400" dirty="0"/>
              <a:t> and </a:t>
            </a:r>
            <a:r>
              <a:rPr lang="en-US" sz="2400" i="1" dirty="0"/>
              <a:t>independent interval variable</a:t>
            </a:r>
            <a:r>
              <a:rPr lang="en-US" sz="2400" dirty="0"/>
              <a:t>?”</a:t>
            </a:r>
            <a:br>
              <a:rPr lang="en-US" sz="2400" dirty="0"/>
            </a:br>
            <a:br>
              <a:rPr lang="en-GB"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1142102" y="1903752"/>
            <a:ext cx="10406581" cy="4257206"/>
          </a:xfrm>
        </p:spPr>
        <p:txBody>
          <a:bodyPr vert="horz" lIns="0" tIns="0" rIns="0" bIns="0" rtlCol="0" anchor="t">
            <a:noAutofit/>
          </a:bodyPr>
          <a:lstStyle/>
          <a:p>
            <a:r>
              <a:rPr lang="en-US" sz="2400" dirty="0"/>
              <a:t>Null hypothesis (H₀):</a:t>
            </a:r>
          </a:p>
          <a:p>
            <a:r>
              <a:rPr lang="en-US" sz="2400" dirty="0"/>
              <a:t>There is no correlation between the opening price and the closing price of Mobius.</a:t>
            </a:r>
          </a:p>
          <a:p>
            <a:r>
              <a:rPr lang="en-US" sz="2400" dirty="0"/>
              <a:t>Alternative hypothesis (H₁):</a:t>
            </a:r>
          </a:p>
          <a:p>
            <a:r>
              <a:rPr lang="en-US" sz="2400" dirty="0"/>
              <a:t>There is a significant correlation between the opening price and the closing price of Mobius.</a:t>
            </a: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7" name="Subtitle 1">
            <a:extLst>
              <a:ext uri="{FF2B5EF4-FFF2-40B4-BE49-F238E27FC236}">
                <a16:creationId xmlns:a16="http://schemas.microsoft.com/office/drawing/2014/main" id="{C4084F99-C114-17E8-9FDD-6F993F912D8C}"/>
              </a:ext>
            </a:extLst>
          </p:cNvPr>
          <p:cNvSpPr txBox="1">
            <a:spLocks/>
          </p:cNvSpPr>
          <p:nvPr/>
        </p:nvSpPr>
        <p:spPr>
          <a:xfrm>
            <a:off x="1219187" y="1161898"/>
            <a:ext cx="9753625" cy="230832"/>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US" dirty="0"/>
              <a:t>Hypotheses </a:t>
            </a:r>
            <a:endParaRPr lang="en-GB" sz="1800" dirty="0">
              <a:solidFill>
                <a:srgbClr val="FF0000"/>
              </a:solidFill>
            </a:endParaRPr>
          </a:p>
        </p:txBody>
      </p:sp>
      <p:sp>
        <p:nvSpPr>
          <p:cNvPr id="9" name="TextBox 8">
            <a:extLst>
              <a:ext uri="{FF2B5EF4-FFF2-40B4-BE49-F238E27FC236}">
                <a16:creationId xmlns:a16="http://schemas.microsoft.com/office/drawing/2014/main" id="{5ED05B9F-B527-5E2F-1585-FE7BBF467D96}"/>
              </a:ext>
            </a:extLst>
          </p:cNvPr>
          <p:cNvSpPr txBox="1"/>
          <p:nvPr/>
        </p:nvSpPr>
        <p:spPr>
          <a:xfrm>
            <a:off x="389743" y="512376"/>
            <a:ext cx="8079699" cy="369332"/>
          </a:xfrm>
          <a:prstGeom prst="rect">
            <a:avLst/>
          </a:prstGeom>
          <a:noFill/>
        </p:spPr>
        <p:txBody>
          <a:bodyPr wrap="square">
            <a:spAutoFit/>
          </a:bodyPr>
          <a:lstStyle/>
          <a:p>
            <a:r>
              <a:rPr lang="en-GB" dirty="0"/>
              <a:t>PRE 7COM1079-2025  Student Group No: B 165 </a:t>
            </a: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http://schemas.openxmlformats.org/package/2006/metadata/core-properties"/>
    <ds:schemaRef ds:uri="http://purl.org/dc/terms/"/>
    <ds:schemaRef ds:uri="http://purl.org/dc/elements/1.1/"/>
    <ds:schemaRef ds:uri="4ad138b4-2b68-4b70-945d-07f8f18b1c9a"/>
    <ds:schemaRef ds:uri="http://schemas.microsoft.com/office/2006/documentManagement/types"/>
    <ds:schemaRef ds:uri="http://schemas.microsoft.com/office/infopath/2007/PartnerControls"/>
    <ds:schemaRef ds:uri="http://schemas.microsoft.com/office/2006/metadata/properties"/>
    <ds:schemaRef ds:uri="3c474641-ec36-472f-b125-6b1b0910eaa4"/>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1128</TotalTime>
  <Words>471</Words>
  <Application>Microsoft Office PowerPoint</Application>
  <PresentationFormat>Widescreen</PresentationFormat>
  <Paragraphs>29</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Tutorial Presentation for Feedback Date:  </vt:lpstr>
      <vt:lpstr>Dataset ID: Mobius.csv (extracted from IoT Coins Dataset) Rows: 398 Variables used: Independent Variable: Opening Price (interval) Dependent Variable: Closing Price (interval)      </vt:lpstr>
      <vt:lpstr>This dataset is interesting to us because: Mobius is a small-cap cryptocurrency with strong intraday price variation, making it ideal for studying opening–closing price relationships. Variables used in our Research Question Opening Price (Independent variable – interval / numeric) Closing Price (Dependent variable – interval / numeric) </vt:lpstr>
      <vt:lpstr>“Is there a significant correlation between the daily opening price (independent variable) and the daily closing price (dependent variable) for the Mobius cryptocurrency?” This follows Template 1 (Correlation): “Is there a correlation between dependent interval variable and independent interval variable?”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Tejaswi Heggeri Naveen [Student-PECS]</cp:lastModifiedBy>
  <cp:revision>122</cp:revision>
  <dcterms:created xsi:type="dcterms:W3CDTF">2019-10-01T08:37:56Z</dcterms:created>
  <dcterms:modified xsi:type="dcterms:W3CDTF">2025-12-11T17:26:25Z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