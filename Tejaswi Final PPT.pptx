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handoutMasterIdLst>
    <p:handoutMasterId r:id="rId22"/>
  </p:handoutMasterIdLst>
  <p:sldIdLst>
    <p:sldId id="289" r:id="rId5"/>
    <p:sldId id="340" r:id="rId6"/>
    <p:sldId id="329" r:id="rId7"/>
    <p:sldId id="336" r:id="rId8"/>
    <p:sldId id="341" r:id="rId9"/>
    <p:sldId id="343" r:id="rId10"/>
    <p:sldId id="352" r:id="rId11"/>
    <p:sldId id="344" r:id="rId12"/>
    <p:sldId id="345" r:id="rId13"/>
    <p:sldId id="353" r:id="rId14"/>
    <p:sldId id="346" r:id="rId15"/>
    <p:sldId id="347" r:id="rId16"/>
    <p:sldId id="349" r:id="rId17"/>
    <p:sldId id="350" r:id="rId18"/>
    <p:sldId id="351" r:id="rId19"/>
    <p:sldId id="34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43"/>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11/12/2025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11/12/2025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39429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C62B9-785E-98C4-E14B-6256BCEAD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DCAE0-69B7-DB16-AAF8-1DCB1356CF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B2AD2C-8D78-4B38-3FF9-78CC407929A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3B75AF8-D302-D71B-1432-C1EECA7AE27B}"/>
              </a:ext>
            </a:extLst>
          </p:cNvPr>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1712915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68852-3346-9FF7-577E-CF24E53D8E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40CE9B-5F17-0712-25FA-3C36508F67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47D723-FCC6-9B39-8D3E-013DEB0BC11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82C7DB1-6577-1B22-0A99-B219258C1DDD}"/>
              </a:ext>
            </a:extLst>
          </p:cNvPr>
          <p:cNvSpPr>
            <a:spLocks noGrp="1"/>
          </p:cNvSpPr>
          <p:nvPr>
            <p:ph type="sldNum" sz="quarter" idx="5"/>
          </p:nvPr>
        </p:nvSpPr>
        <p:spPr/>
        <p:txBody>
          <a:bodyPr/>
          <a:lstStyle/>
          <a:p>
            <a:fld id="{30370952-48CC-46D7-9FCD-59FAD40CC025}" type="slidenum">
              <a:rPr lang="en-GB" smtClean="0"/>
              <a:pPr/>
              <a:t>7</a:t>
            </a:fld>
            <a:endParaRPr lang="en-GB"/>
          </a:p>
        </p:txBody>
      </p:sp>
    </p:spTree>
    <p:extLst>
      <p:ext uri="{BB962C8B-B14F-4D97-AF65-F5344CB8AC3E}">
        <p14:creationId xmlns:p14="http://schemas.microsoft.com/office/powerpoint/2010/main" val="582105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7BD4C-B227-29C3-5D00-FC6B28023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D427B9-179D-458C-0D07-A591C50575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EBF2F6-D7B1-2031-4497-5953AB8F9B9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682DEB1-CCE5-2D6D-FDF7-D99076D52E12}"/>
              </a:ext>
            </a:extLst>
          </p:cNvPr>
          <p:cNvSpPr>
            <a:spLocks noGrp="1"/>
          </p:cNvSpPr>
          <p:nvPr>
            <p:ph type="sldNum" sz="quarter" idx="5"/>
          </p:nvPr>
        </p:nvSpPr>
        <p:spPr/>
        <p:txBody>
          <a:bodyPr/>
          <a:lstStyle/>
          <a:p>
            <a:fld id="{30370952-48CC-46D7-9FCD-59FAD40CC025}" type="slidenum">
              <a:rPr lang="en-GB" smtClean="0"/>
              <a:pPr/>
              <a:t>8</a:t>
            </a:fld>
            <a:endParaRPr lang="en-GB"/>
          </a:p>
        </p:txBody>
      </p:sp>
    </p:spTree>
    <p:extLst>
      <p:ext uri="{BB962C8B-B14F-4D97-AF65-F5344CB8AC3E}">
        <p14:creationId xmlns:p14="http://schemas.microsoft.com/office/powerpoint/2010/main" val="2652441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E2023-D659-05DD-CB54-566DCBE2D6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C127F9-96E6-574A-6435-D7EF8C2229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877585-C8C3-28D7-13B2-F62290A660D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111C2AC-0826-F21C-0107-AC006F6DD35B}"/>
              </a:ext>
            </a:extLst>
          </p:cNvPr>
          <p:cNvSpPr>
            <a:spLocks noGrp="1"/>
          </p:cNvSpPr>
          <p:nvPr>
            <p:ph type="sldNum" sz="quarter" idx="5"/>
          </p:nvPr>
        </p:nvSpPr>
        <p:spPr/>
        <p:txBody>
          <a:bodyPr/>
          <a:lstStyle/>
          <a:p>
            <a:fld id="{30370952-48CC-46D7-9FCD-59FAD40CC025}" type="slidenum">
              <a:rPr lang="en-GB" smtClean="0"/>
              <a:pPr/>
              <a:t>9</a:t>
            </a:fld>
            <a:endParaRPr lang="en-GB"/>
          </a:p>
        </p:txBody>
      </p:sp>
    </p:spTree>
    <p:extLst>
      <p:ext uri="{BB962C8B-B14F-4D97-AF65-F5344CB8AC3E}">
        <p14:creationId xmlns:p14="http://schemas.microsoft.com/office/powerpoint/2010/main" val="3252071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39E6C-7679-BAC7-4C2B-6600BEFEC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8E4D23-95A9-7440-93F7-376D40639F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398703-C5C6-64AD-5339-BF89B639E01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887EC19-23F9-683F-33FF-81AFDA98B18D}"/>
              </a:ext>
            </a:extLst>
          </p:cNvPr>
          <p:cNvSpPr>
            <a:spLocks noGrp="1"/>
          </p:cNvSpPr>
          <p:nvPr>
            <p:ph type="sldNum" sz="quarter" idx="5"/>
          </p:nvPr>
        </p:nvSpPr>
        <p:spPr/>
        <p:txBody>
          <a:bodyPr/>
          <a:lstStyle/>
          <a:p>
            <a:fld id="{30370952-48CC-46D7-9FCD-59FAD40CC025}" type="slidenum">
              <a:rPr lang="en-GB" smtClean="0"/>
              <a:pPr/>
              <a:t>10</a:t>
            </a:fld>
            <a:endParaRPr lang="en-GB"/>
          </a:p>
        </p:txBody>
      </p:sp>
    </p:spTree>
    <p:extLst>
      <p:ext uri="{BB962C8B-B14F-4D97-AF65-F5344CB8AC3E}">
        <p14:creationId xmlns:p14="http://schemas.microsoft.com/office/powerpoint/2010/main" val="3361863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D8787-878B-01C9-E33D-8DB772DB6B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4FAD14-FED0-CCED-2A8E-98778862D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8E8B1-C207-22AE-64A0-E7A66B07C53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51E7C03-6D84-5561-23A6-9A83BC6B566D}"/>
              </a:ext>
            </a:extLst>
          </p:cNvPr>
          <p:cNvSpPr>
            <a:spLocks noGrp="1"/>
          </p:cNvSpPr>
          <p:nvPr>
            <p:ph type="sldNum" sz="quarter" idx="5"/>
          </p:nvPr>
        </p:nvSpPr>
        <p:spPr/>
        <p:txBody>
          <a:bodyPr/>
          <a:lstStyle/>
          <a:p>
            <a:fld id="{30370952-48CC-46D7-9FCD-59FAD40CC025}" type="slidenum">
              <a:rPr lang="en-GB" smtClean="0"/>
              <a:pPr/>
              <a:t>11</a:t>
            </a:fld>
            <a:endParaRPr lang="en-GB"/>
          </a:p>
        </p:txBody>
      </p:sp>
    </p:spTree>
    <p:extLst>
      <p:ext uri="{BB962C8B-B14F-4D97-AF65-F5344CB8AC3E}">
        <p14:creationId xmlns:p14="http://schemas.microsoft.com/office/powerpoint/2010/main" val="33003555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7FEC6-4CBA-090B-5F70-2F38E5691E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306257-8071-ADD3-3712-ACAE8161D4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D07B59-ED10-257D-A30D-6BDAF3E808E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8987919-EC61-137E-CEFC-2D50ACC9D76C}"/>
              </a:ext>
            </a:extLst>
          </p:cNvPr>
          <p:cNvSpPr>
            <a:spLocks noGrp="1"/>
          </p:cNvSpPr>
          <p:nvPr>
            <p:ph type="sldNum" sz="quarter" idx="5"/>
          </p:nvPr>
        </p:nvSpPr>
        <p:spPr/>
        <p:txBody>
          <a:bodyPr/>
          <a:lstStyle/>
          <a:p>
            <a:fld id="{30370952-48CC-46D7-9FCD-59FAD40CC025}" type="slidenum">
              <a:rPr lang="en-GB" smtClean="0"/>
              <a:pPr/>
              <a:t>12</a:t>
            </a:fld>
            <a:endParaRPr lang="en-GB"/>
          </a:p>
        </p:txBody>
      </p:sp>
    </p:spTree>
    <p:extLst>
      <p:ext uri="{BB962C8B-B14F-4D97-AF65-F5344CB8AC3E}">
        <p14:creationId xmlns:p14="http://schemas.microsoft.com/office/powerpoint/2010/main" val="24893444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F817E-FBC8-7321-D533-19D44DD48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A109C2-B454-55AB-0586-7DA736338F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B8AD42-18B2-C3AF-00CC-627DE3C7280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61DA52C-F5B4-CB5E-ECC1-6F3E7C76F547}"/>
              </a:ext>
            </a:extLst>
          </p:cNvPr>
          <p:cNvSpPr>
            <a:spLocks noGrp="1"/>
          </p:cNvSpPr>
          <p:nvPr>
            <p:ph type="sldNum" sz="quarter" idx="5"/>
          </p:nvPr>
        </p:nvSpPr>
        <p:spPr/>
        <p:txBody>
          <a:bodyPr/>
          <a:lstStyle/>
          <a:p>
            <a:fld id="{30370952-48CC-46D7-9FCD-59FAD40CC025}" type="slidenum">
              <a:rPr lang="en-GB" smtClean="0"/>
              <a:pPr/>
              <a:t>13</a:t>
            </a:fld>
            <a:endParaRPr lang="en-GB"/>
          </a:p>
        </p:txBody>
      </p:sp>
    </p:spTree>
    <p:extLst>
      <p:ext uri="{BB962C8B-B14F-4D97-AF65-F5344CB8AC3E}">
        <p14:creationId xmlns:p14="http://schemas.microsoft.com/office/powerpoint/2010/main" val="2342463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95E9-8212-EAEF-DE82-53AC6B0AD5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94CB67-66BF-9B94-3C2F-0F6A4E1661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63B705-11F7-04F3-3A7C-5505EC477F5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B50D53E-8AA7-46D8-2579-0E653C7A66B6}"/>
              </a:ext>
            </a:extLst>
          </p:cNvPr>
          <p:cNvSpPr>
            <a:spLocks noGrp="1"/>
          </p:cNvSpPr>
          <p:nvPr>
            <p:ph type="sldNum" sz="quarter" idx="5"/>
          </p:nvPr>
        </p:nvSpPr>
        <p:spPr/>
        <p:txBody>
          <a:bodyPr/>
          <a:lstStyle/>
          <a:p>
            <a:fld id="{30370952-48CC-46D7-9FCD-59FAD40CC025}" type="slidenum">
              <a:rPr lang="en-GB" smtClean="0"/>
              <a:pPr/>
              <a:t>14</a:t>
            </a:fld>
            <a:endParaRPr lang="en-GB"/>
          </a:p>
        </p:txBody>
      </p:sp>
    </p:spTree>
    <p:extLst>
      <p:ext uri="{BB962C8B-B14F-4D97-AF65-F5344CB8AC3E}">
        <p14:creationId xmlns:p14="http://schemas.microsoft.com/office/powerpoint/2010/main" val="12721047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3631E-FD87-4802-5FCA-6409AFB9B8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587D15-FA2C-20B8-EB7E-0B9CABA55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726FA2-1296-7000-6E0F-CE7BC1E6829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8144A05-4089-AE68-D11F-C3D5DE211EDE}"/>
              </a:ext>
            </a:extLst>
          </p:cNvPr>
          <p:cNvSpPr>
            <a:spLocks noGrp="1"/>
          </p:cNvSpPr>
          <p:nvPr>
            <p:ph type="sldNum" sz="quarter" idx="5"/>
          </p:nvPr>
        </p:nvSpPr>
        <p:spPr/>
        <p:txBody>
          <a:bodyPr/>
          <a:lstStyle/>
          <a:p>
            <a:fld id="{30370952-48CC-46D7-9FCD-59FAD40CC025}" type="slidenum">
              <a:rPr lang="en-GB" smtClean="0"/>
              <a:pPr/>
              <a:t>15</a:t>
            </a:fld>
            <a:endParaRPr lang="en-GB"/>
          </a:p>
        </p:txBody>
      </p:sp>
    </p:spTree>
    <p:extLst>
      <p:ext uri="{BB962C8B-B14F-4D97-AF65-F5344CB8AC3E}">
        <p14:creationId xmlns:p14="http://schemas.microsoft.com/office/powerpoint/2010/main" val="14934325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89CB6-E17E-9AE8-0B3F-85284BBF36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444D21-B831-4D91-EB57-26F2198800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C3891C-546E-2BAB-82B4-C75B041205F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93C81E3-8328-9EC6-20BB-29980BC6C1C8}"/>
              </a:ext>
            </a:extLst>
          </p:cNvPr>
          <p:cNvSpPr>
            <a:spLocks noGrp="1"/>
          </p:cNvSpPr>
          <p:nvPr>
            <p:ph type="sldNum" sz="quarter" idx="5"/>
          </p:nvPr>
        </p:nvSpPr>
        <p:spPr/>
        <p:txBody>
          <a:bodyPr/>
          <a:lstStyle/>
          <a:p>
            <a:fld id="{30370952-48CC-46D7-9FCD-59FAD40CC025}" type="slidenum">
              <a:rPr lang="en-GB" smtClean="0"/>
              <a:pPr/>
              <a:t>16</a:t>
            </a:fld>
            <a:endParaRPr lang="en-GB"/>
          </a:p>
        </p:txBody>
      </p:sp>
    </p:spTree>
    <p:extLst>
      <p:ext uri="{BB962C8B-B14F-4D97-AF65-F5344CB8AC3E}">
        <p14:creationId xmlns:p14="http://schemas.microsoft.com/office/powerpoint/2010/main" val="36334435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dirty="0"/>
              <a:t>Group Name:  Group B 165                                                          Name of Student Presenting:</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B 165                  Names of Student Attendees:</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349770" y="1411094"/>
            <a:ext cx="9753625" cy="230832"/>
          </a:xfrm>
        </p:spPr>
        <p:txBody>
          <a:bodyPr vert="horz" lIns="0" tIns="0" rIns="0" bIns="0" rtlCol="0" anchor="t">
            <a:noAutofit/>
          </a:bodyPr>
          <a:lstStyle/>
          <a:p>
            <a:pPr>
              <a:spcAft>
                <a:spcPts val="0"/>
              </a:spcAft>
            </a:pPr>
            <a:r>
              <a:rPr lang="en-US" dirty="0"/>
              <a:t>Dataset Summary</a:t>
            </a:r>
            <a:r>
              <a:rPr lang="en-GB" dirty="0">
                <a:solidFill>
                  <a:srgbClr val="203232"/>
                </a:solidFill>
                <a:cs typeface="Arial"/>
              </a:rPr>
              <a:t> </a:t>
            </a:r>
            <a:endParaRPr lang="en-GB" sz="1800" dirty="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349770" y="2031166"/>
            <a:ext cx="6290873" cy="3415740"/>
          </a:xfrm>
        </p:spPr>
        <p:txBody>
          <a:bodyPr>
            <a:normAutofit fontScale="90000"/>
          </a:bodyPr>
          <a:lstStyle/>
          <a:p>
            <a:pPr>
              <a:lnSpc>
                <a:spcPct val="150000"/>
              </a:lnSpc>
            </a:pPr>
            <a:r>
              <a:rPr lang="en-US" sz="2400" dirty="0"/>
              <a:t>Dataset ID: Mobius.csv (extracted from IoT Coins Dataset)</a:t>
            </a:r>
            <a:br>
              <a:rPr lang="en-US" sz="2400" dirty="0"/>
            </a:br>
            <a:r>
              <a:rPr lang="en-US" sz="2400" dirty="0"/>
              <a:t>Rows: 398</a:t>
            </a:r>
            <a:br>
              <a:rPr lang="en-US" sz="2400" dirty="0"/>
            </a:br>
            <a:r>
              <a:rPr lang="en-US" sz="2400" dirty="0"/>
              <a:t>Variables used:</a:t>
            </a:r>
            <a:br>
              <a:rPr lang="en-US" sz="2400" dirty="0"/>
            </a:br>
            <a:r>
              <a:rPr lang="en-US" sz="2400" dirty="0"/>
              <a:t>Independent Variable: Opening Price (interval)</a:t>
            </a:r>
            <a:br>
              <a:rPr lang="en-US" sz="2400" dirty="0"/>
            </a:br>
            <a:r>
              <a:rPr lang="en-US" sz="2400" dirty="0"/>
              <a:t>Dependent Variable: Closing Price (interval)</a:t>
            </a:r>
            <a:br>
              <a:rPr lang="en-US" sz="2400" dirty="0"/>
            </a:br>
            <a:br>
              <a:rPr lang="en-US" sz="1800" dirty="0">
                <a:solidFill>
                  <a:srgbClr val="FF0000"/>
                </a:solidFill>
              </a:rPr>
            </a:br>
            <a:br>
              <a:rPr lang="en-US" sz="1800" dirty="0">
                <a:solidFill>
                  <a:srgbClr val="FF0000"/>
                </a:solidFill>
              </a:rPr>
            </a:br>
            <a:br>
              <a:rPr lang="en-GB" sz="1800" dirty="0">
                <a:solidFill>
                  <a:srgbClr val="FF0000"/>
                </a:solidFill>
                <a:cs typeface="Arial"/>
              </a:rPr>
            </a:br>
            <a:br>
              <a:rPr lang="en-GB" sz="1800" dirty="0">
                <a:solidFill>
                  <a:srgbClr val="FF0000"/>
                </a:solidFill>
                <a:cs typeface="Arial"/>
              </a:rPr>
            </a:br>
            <a:endParaRPr lang="en-GB" sz="1800" dirty="0">
              <a:solidFill>
                <a:srgbClr val="FF0000"/>
              </a:solidFill>
              <a:cs typeface="Arial"/>
            </a:endParaRPr>
          </a:p>
          <a:p>
            <a:endParaRPr lang="en-US" sz="1800" dirty="0">
              <a:solidFill>
                <a:srgbClr val="FF0000"/>
              </a:solidFill>
              <a:cs typeface="Arial"/>
            </a:endParaRPr>
          </a:p>
        </p:txBody>
      </p:sp>
      <p:pic>
        <p:nvPicPr>
          <p:cNvPr id="7" name="Picture 6" descr="A screenshot of a computer&#10;&#10;AI-generated content may be incorrect.">
            <a:extLst>
              <a:ext uri="{FF2B5EF4-FFF2-40B4-BE49-F238E27FC236}">
                <a16:creationId xmlns:a16="http://schemas.microsoft.com/office/drawing/2014/main" id="{3D77D18D-287C-2F60-2C3D-82B58E1C9492}"/>
              </a:ext>
            </a:extLst>
          </p:cNvPr>
          <p:cNvPicPr>
            <a:picLocks noChangeAspect="1"/>
          </p:cNvPicPr>
          <p:nvPr/>
        </p:nvPicPr>
        <p:blipFill>
          <a:blip r:embed="rId3"/>
          <a:stretch>
            <a:fillRect/>
          </a:stretch>
        </p:blipFill>
        <p:spPr>
          <a:xfrm>
            <a:off x="5562994" y="2689450"/>
            <a:ext cx="6114354" cy="3377528"/>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dirty="0">
                <a:solidFill>
                  <a:srgbClr val="FF0000"/>
                </a:solidFill>
              </a:rPr>
              <a:t>: DS300</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dirty="0"/>
              <a:t>7COM1079-2025  Student Group No: B 165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9" y="1873115"/>
            <a:ext cx="9989224" cy="3699793"/>
          </a:xfrm>
        </p:spPr>
        <p:txBody>
          <a:bodyPr>
            <a:noAutofit/>
          </a:bodyPr>
          <a:lstStyle/>
          <a:p>
            <a:pPr>
              <a:lnSpc>
                <a:spcPct val="150000"/>
              </a:lnSpc>
            </a:pPr>
            <a:r>
              <a:rPr lang="en-US" sz="2400" b="0" dirty="0">
                <a:latin typeface="Calibri" panose="020F0502020204030204" pitchFamily="34" charset="0"/>
                <a:ea typeface="Calibri" panose="020F0502020204030204" pitchFamily="34" charset="0"/>
                <a:cs typeface="Calibri" panose="020F0502020204030204" pitchFamily="34" charset="0"/>
              </a:rPr>
              <a:t>This dataset is interesting to us because:</a:t>
            </a:r>
            <a:br>
              <a:rPr lang="en-US" sz="2400" b="0" dirty="0">
                <a:latin typeface="Calibri" panose="020F0502020204030204" pitchFamily="34" charset="0"/>
                <a:ea typeface="Calibri" panose="020F0502020204030204" pitchFamily="34" charset="0"/>
                <a:cs typeface="Calibri" panose="020F0502020204030204" pitchFamily="34" charset="0"/>
              </a:rPr>
            </a:br>
            <a:r>
              <a:rPr lang="en-US" sz="2400" b="0" dirty="0">
                <a:latin typeface="Calibri" panose="020F0502020204030204" pitchFamily="34" charset="0"/>
                <a:ea typeface="Calibri" panose="020F0502020204030204" pitchFamily="34" charset="0"/>
                <a:cs typeface="Calibri" panose="020F0502020204030204" pitchFamily="34" charset="0"/>
              </a:rPr>
              <a:t>Mobius is a small-cap cryptocurrency with strong intraday price variation, making it ideal for studying opening–closing price relationships.</a:t>
            </a:r>
            <a:br>
              <a:rPr lang="en-US" sz="2400" b="0" dirty="0">
                <a:latin typeface="Calibri" panose="020F0502020204030204" pitchFamily="34" charset="0"/>
                <a:cs typeface="Calibri" panose="020F0502020204030204" pitchFamily="34" charset="0"/>
              </a:rPr>
            </a:br>
            <a:r>
              <a:rPr lang="en-US" sz="2400" b="0" dirty="0">
                <a:latin typeface="Calibri" panose="020F0502020204030204" pitchFamily="34" charset="0"/>
                <a:ea typeface="Calibri" panose="020F0502020204030204" pitchFamily="34" charset="0"/>
                <a:cs typeface="Calibri" panose="020F0502020204030204" pitchFamily="34" charset="0"/>
              </a:rPr>
              <a:t>Variables used in our Research Question</a:t>
            </a:r>
            <a:br>
              <a:rPr lang="en-US" sz="2400" b="0" dirty="0">
                <a:latin typeface="Calibri" panose="020F0502020204030204" pitchFamily="34" charset="0"/>
                <a:ea typeface="Calibri" panose="020F0502020204030204" pitchFamily="34" charset="0"/>
                <a:cs typeface="Calibri" panose="020F0502020204030204" pitchFamily="34" charset="0"/>
              </a:rPr>
            </a:br>
            <a:r>
              <a:rPr lang="en-US" sz="2400" b="0" dirty="0">
                <a:latin typeface="Calibri" panose="020F0502020204030204" pitchFamily="34" charset="0"/>
                <a:ea typeface="Calibri" panose="020F0502020204030204" pitchFamily="34" charset="0"/>
                <a:cs typeface="Calibri" panose="020F0502020204030204" pitchFamily="34" charset="0"/>
              </a:rPr>
              <a:t>Opening Price (Independent variable – interval / numeric)</a:t>
            </a:r>
            <a:br>
              <a:rPr lang="en-US" sz="2400" b="0" dirty="0">
                <a:latin typeface="Calibri" panose="020F0502020204030204" pitchFamily="34" charset="0"/>
                <a:ea typeface="Calibri" panose="020F0502020204030204" pitchFamily="34" charset="0"/>
                <a:cs typeface="Calibri" panose="020F0502020204030204" pitchFamily="34" charset="0"/>
              </a:rPr>
            </a:br>
            <a:r>
              <a:rPr lang="en-US" sz="2400" b="0" dirty="0">
                <a:latin typeface="Calibri" panose="020F0502020204030204" pitchFamily="34" charset="0"/>
                <a:ea typeface="Calibri" panose="020F0502020204030204" pitchFamily="34" charset="0"/>
                <a:cs typeface="Calibri" panose="020F0502020204030204" pitchFamily="34" charset="0"/>
              </a:rPr>
              <a:t>Closing Price (Dependent variable – interval / numeric)</a:t>
            </a:r>
            <a:br>
              <a:rPr lang="en-US" sz="2400" dirty="0">
                <a:latin typeface="Calibri" panose="020F0502020204030204" pitchFamily="34" charset="0"/>
                <a:ea typeface="Calibri" panose="020F0502020204030204" pitchFamily="34" charset="0"/>
                <a:cs typeface="Calibri" panose="020F0502020204030204" pitchFamily="34" charset="0"/>
              </a:rPr>
            </a:br>
            <a:endParaRPr lang="en-US" sz="2400" b="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42339"/>
            <a:ext cx="10961306" cy="4173064"/>
          </a:xfrm>
        </p:spPr>
        <p:txBody>
          <a:bodyPr>
            <a:noAutofit/>
          </a:bodyPr>
          <a:lstStyle/>
          <a:p>
            <a:pPr>
              <a:lnSpc>
                <a:spcPct val="150000"/>
              </a:lnSpc>
            </a:pPr>
            <a:r>
              <a:rPr lang="en-US" sz="2400" dirty="0"/>
              <a:t>“Is there a significant correlation between the daily opening price (independent variable) and the daily closing price (dependent variable) for the Mobius cryptocurrency?”</a:t>
            </a:r>
            <a:br>
              <a:rPr lang="en-US" sz="2400" dirty="0"/>
            </a:br>
            <a:r>
              <a:rPr lang="en-US" sz="2400" dirty="0"/>
              <a:t>This follows Template 1 (Correlation):</a:t>
            </a:r>
            <a:br>
              <a:rPr lang="en-US" sz="2400" dirty="0"/>
            </a:br>
            <a:r>
              <a:rPr lang="en-US" sz="2400" dirty="0"/>
              <a:t>“Is there a correlation between </a:t>
            </a:r>
            <a:r>
              <a:rPr lang="en-US" sz="2400" i="1" dirty="0"/>
              <a:t>dependent interval variable</a:t>
            </a:r>
            <a:r>
              <a:rPr lang="en-US" sz="2400" dirty="0"/>
              <a:t> and </a:t>
            </a:r>
            <a:r>
              <a:rPr lang="en-US" sz="2400" i="1" dirty="0"/>
              <a:t>independent interval variable</a:t>
            </a:r>
            <a:r>
              <a:rPr lang="en-US" sz="2400" dirty="0"/>
              <a:t>?”</a:t>
            </a:r>
            <a:br>
              <a:rPr lang="en-US" sz="2400" dirty="0"/>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1142102" y="1903752"/>
            <a:ext cx="10406581" cy="4257206"/>
          </a:xfrm>
        </p:spPr>
        <p:txBody>
          <a:bodyPr vert="horz" lIns="0" tIns="0" rIns="0" bIns="0" rtlCol="0" anchor="t">
            <a:noAutofit/>
          </a:bodyPr>
          <a:lstStyle/>
          <a:p>
            <a:r>
              <a:rPr lang="en-US" sz="2400" dirty="0"/>
              <a:t>Null hypothesis (H₀):</a:t>
            </a:r>
          </a:p>
          <a:p>
            <a:r>
              <a:rPr lang="en-US" sz="2400" dirty="0"/>
              <a:t>There is no correlation between the opening price and the closing price of Mobius.</a:t>
            </a:r>
          </a:p>
          <a:p>
            <a:r>
              <a:rPr lang="en-US" sz="2400" dirty="0"/>
              <a:t>Alternative hypothesis (H₁):</a:t>
            </a:r>
          </a:p>
          <a:p>
            <a:r>
              <a:rPr lang="en-US" sz="2400" dirty="0"/>
              <a:t>There is a significant correlation between the opening price and the closing price of Mobius.</a:t>
            </a: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7" name="Subtitle 1">
            <a:extLst>
              <a:ext uri="{FF2B5EF4-FFF2-40B4-BE49-F238E27FC236}">
                <a16:creationId xmlns:a16="http://schemas.microsoft.com/office/drawing/2014/main" id="{C4084F99-C114-17E8-9FDD-6F993F912D8C}"/>
              </a:ext>
            </a:extLst>
          </p:cNvPr>
          <p:cNvSpPr txBox="1">
            <a:spLocks/>
          </p:cNvSpPr>
          <p:nvPr/>
        </p:nvSpPr>
        <p:spPr>
          <a:xfrm>
            <a:off x="1219187" y="1161898"/>
            <a:ext cx="9753625" cy="230832"/>
          </a:xfrm>
          <a:prstGeom prst="rect">
            <a:avLst/>
          </a:prstGeom>
        </p:spPr>
        <p:txBody>
          <a:bodyPr vert="horz" lIns="0" tIns="0" rIns="0" bIns="0" rtlCol="0">
            <a:noAutofit/>
          </a:bodyPr>
          <a:lstStyle>
            <a:lvl1pPr marL="0" indent="0" algn="l" defTabSz="914400" rtl="0" eaLnBrk="1" latinLnBrk="0" hangingPunct="1">
              <a:lnSpc>
                <a:spcPts val="2880"/>
              </a:lnSpc>
              <a:spcBef>
                <a:spcPts val="0"/>
              </a:spcBef>
              <a:spcAft>
                <a:spcPts val="992"/>
              </a:spcAft>
              <a:buFont typeface="Arial" panose="020B0604020202020204" pitchFamily="34" charset="0"/>
              <a:buNone/>
              <a:defRPr sz="3600" b="1" kern="3000" spc="-100" baseline="0">
                <a:solidFill>
                  <a:schemeClr val="tx2"/>
                </a:solidFill>
                <a:latin typeface="+mn-lt"/>
                <a:ea typeface="+mn-ea"/>
                <a:cs typeface="+mn-cs"/>
              </a:defRPr>
            </a:lvl1pPr>
            <a:lvl2pPr marL="457200" indent="0" algn="ctr" defTabSz="914400" rtl="0" eaLnBrk="1" latinLnBrk="0" hangingPunct="1">
              <a:lnSpc>
                <a:spcPts val="2880"/>
              </a:lnSpc>
              <a:spcBef>
                <a:spcPts val="0"/>
              </a:spcBef>
              <a:spcAft>
                <a:spcPts val="992"/>
              </a:spcAft>
              <a:buFont typeface="Arial" panose="020B0604020202020204" pitchFamily="34" charset="0"/>
              <a:buNone/>
              <a:defRPr sz="2000" kern="2000" spc="-100" baseline="0">
                <a:solidFill>
                  <a:srgbClr val="203232"/>
                </a:solidFill>
                <a:latin typeface="+mn-lt"/>
                <a:ea typeface="+mn-ea"/>
                <a:cs typeface="+mn-cs"/>
              </a:defRPr>
            </a:lvl2pPr>
            <a:lvl3pPr marL="914400" indent="0" algn="ctr" defTabSz="914400" rtl="0" eaLnBrk="1" latinLnBrk="0" hangingPunct="1">
              <a:lnSpc>
                <a:spcPts val="2880"/>
              </a:lnSpc>
              <a:spcBef>
                <a:spcPts val="0"/>
              </a:spcBef>
              <a:spcAft>
                <a:spcPts val="992"/>
              </a:spcAft>
              <a:buFont typeface="Arial" panose="020B0604020202020204" pitchFamily="34" charset="0"/>
              <a:buNone/>
              <a:defRPr sz="1800" kern="2000" spc="-100" baseline="0">
                <a:solidFill>
                  <a:srgbClr val="203232"/>
                </a:solidFill>
                <a:latin typeface="+mn-lt"/>
                <a:ea typeface="+mn-ea"/>
                <a:cs typeface="+mn-cs"/>
              </a:defRPr>
            </a:lvl3pPr>
            <a:lvl4pPr marL="1371600" indent="0" algn="ctr" defTabSz="914400" rtl="0" eaLnBrk="1" latinLnBrk="0" hangingPunct="1">
              <a:lnSpc>
                <a:spcPts val="2160"/>
              </a:lnSpc>
              <a:spcBef>
                <a:spcPts val="0"/>
              </a:spcBef>
              <a:buFont typeface="Arial" panose="020B0604020202020204" pitchFamily="34" charset="0"/>
              <a:buNone/>
              <a:defRPr sz="1600" kern="1200">
                <a:solidFill>
                  <a:srgbClr val="203232"/>
                </a:solidFill>
                <a:latin typeface="+mn-lt"/>
                <a:ea typeface="+mn-ea"/>
                <a:cs typeface="+mn-cs"/>
              </a:defRPr>
            </a:lvl4pPr>
            <a:lvl5pPr marL="1828800" indent="0" algn="ctr" defTabSz="914400" rtl="0" eaLnBrk="1" latinLnBrk="0" hangingPunct="1">
              <a:lnSpc>
                <a:spcPts val="2160"/>
              </a:lnSpc>
              <a:spcBef>
                <a:spcPts val="0"/>
              </a:spcBef>
              <a:buFont typeface="Arial" panose="020B0604020202020204" pitchFamily="34" charset="0"/>
              <a:buNone/>
              <a:defRPr sz="1600" b="1" kern="1200">
                <a:solidFill>
                  <a:srgbClr val="20323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Aft>
                <a:spcPts val="0"/>
              </a:spcAft>
            </a:pPr>
            <a:r>
              <a:rPr lang="en-US" dirty="0"/>
              <a:t>Hypotheses </a:t>
            </a:r>
            <a:endParaRPr lang="en-GB" sz="1800" dirty="0">
              <a:solidFill>
                <a:srgbClr val="FF0000"/>
              </a:solidFill>
            </a:endParaRPr>
          </a:p>
        </p:txBody>
      </p:sp>
      <p:sp>
        <p:nvSpPr>
          <p:cNvPr id="9" name="TextBox 8">
            <a:extLst>
              <a:ext uri="{FF2B5EF4-FFF2-40B4-BE49-F238E27FC236}">
                <a16:creationId xmlns:a16="http://schemas.microsoft.com/office/drawing/2014/main" id="{5ED05B9F-B527-5E2F-1585-FE7BBF467D96}"/>
              </a:ext>
            </a:extLst>
          </p:cNvPr>
          <p:cNvSpPr txBox="1"/>
          <p:nvPr/>
        </p:nvSpPr>
        <p:spPr>
          <a:xfrm>
            <a:off x="389743" y="512376"/>
            <a:ext cx="8079699" cy="369332"/>
          </a:xfrm>
          <a:prstGeom prst="rect">
            <a:avLst/>
          </a:prstGeom>
          <a:noFill/>
        </p:spPr>
        <p:txBody>
          <a:bodyPr wrap="square">
            <a:spAutoFit/>
          </a:bodyPr>
          <a:lstStyle/>
          <a:p>
            <a:r>
              <a:rPr lang="en-GB" dirty="0"/>
              <a:t>PRE 7COM1079-2025  Student Group No: B 165 </a:t>
            </a:r>
          </a:p>
        </p:txBody>
      </p:sp>
    </p:spTree>
    <p:extLst>
      <p:ext uri="{BB962C8B-B14F-4D97-AF65-F5344CB8AC3E}">
        <p14:creationId xmlns:p14="http://schemas.microsoft.com/office/powerpoint/2010/main" val="2952338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7427E-FD53-6075-0F65-FDE023288AA2}"/>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EBC8B40E-93AB-B5E0-55FA-BC10200AB094}"/>
              </a:ext>
            </a:extLst>
          </p:cNvPr>
          <p:cNvSpPr>
            <a:spLocks noGrp="1"/>
          </p:cNvSpPr>
          <p:nvPr>
            <p:ph type="subTitle" idx="1"/>
          </p:nvPr>
        </p:nvSpPr>
        <p:spPr>
          <a:xfrm>
            <a:off x="965289" y="1244184"/>
            <a:ext cx="9753625" cy="374754"/>
          </a:xfrm>
        </p:spPr>
        <p:txBody>
          <a:bodyPr/>
          <a:lstStyle/>
          <a:p>
            <a:pPr>
              <a:spcAft>
                <a:spcPts val="0"/>
              </a:spcAft>
            </a:pPr>
            <a:r>
              <a:rPr lang="en-US" dirty="0" err="1"/>
              <a:t>Visualisation</a:t>
            </a:r>
            <a:r>
              <a:rPr lang="en-US" dirty="0"/>
              <a:t> Part 1 (Scatterplot)</a:t>
            </a:r>
            <a:endParaRPr lang="en-GB" dirty="0">
              <a:solidFill>
                <a:srgbClr val="FF0000"/>
              </a:solidFill>
            </a:endParaRPr>
          </a:p>
        </p:txBody>
      </p:sp>
      <p:sp>
        <p:nvSpPr>
          <p:cNvPr id="3" name="Footer Placeholder 2">
            <a:extLst>
              <a:ext uri="{FF2B5EF4-FFF2-40B4-BE49-F238E27FC236}">
                <a16:creationId xmlns:a16="http://schemas.microsoft.com/office/drawing/2014/main" id="{2AB17280-7089-64E6-83A5-2FE672BA137B}"/>
              </a:ext>
            </a:extLst>
          </p:cNvPr>
          <p:cNvSpPr>
            <a:spLocks noGrp="1"/>
          </p:cNvSpPr>
          <p:nvPr>
            <p:ph type="ftr" sz="quarter" idx="11"/>
          </p:nvPr>
        </p:nvSpPr>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57083A62-EF72-6EFB-0C91-AE9F734615D6}"/>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B173CA7F-53DC-9350-718D-F79F2F26BEFC}"/>
              </a:ext>
            </a:extLst>
          </p:cNvPr>
          <p:cNvSpPr>
            <a:spLocks noGrp="1"/>
          </p:cNvSpPr>
          <p:nvPr>
            <p:ph type="ctrTitle"/>
          </p:nvPr>
        </p:nvSpPr>
        <p:spPr>
          <a:xfrm>
            <a:off x="960292" y="1841268"/>
            <a:ext cx="10961306" cy="5016732"/>
          </a:xfrm>
        </p:spPr>
        <p:txBody>
          <a:bodyPr>
            <a:noAutofit/>
          </a:bodyPr>
          <a:lstStyle/>
          <a:p>
            <a:pPr>
              <a:lnSpc>
                <a:spcPct val="150000"/>
              </a:lnSpc>
            </a:pPr>
            <a:r>
              <a:rPr lang="en-US" sz="2400" dirty="0"/>
              <a:t>Scatterplot: Opening vs Closing Price</a:t>
            </a:r>
            <a:br>
              <a:rPr lang="en-US" sz="2400" dirty="0"/>
            </a:br>
            <a:r>
              <a:rPr lang="en-US" sz="2400" dirty="0"/>
              <a:t>Shows the linear relationship between Opening (X-axis) and Closing Price (Y-axis).</a:t>
            </a:r>
            <a:br>
              <a:rPr lang="en-US" sz="2400" dirty="0"/>
            </a:br>
            <a:r>
              <a:rPr lang="en-US" sz="2400" dirty="0"/>
              <a:t>A strong upward trend is visible, meaning higher opening prices generally lead to higher closing prices.</a:t>
            </a:r>
            <a:br>
              <a:rPr lang="en-US" sz="2400" dirty="0"/>
            </a:br>
            <a:r>
              <a:rPr lang="en-US" sz="2400" dirty="0"/>
              <a:t>This directly supports our correlation-based RQ.</a:t>
            </a:r>
            <a:br>
              <a:rPr lang="en-US" sz="2400" dirty="0"/>
            </a:br>
            <a:br>
              <a:rPr lang="en-US" sz="2400" dirty="0"/>
            </a:br>
            <a:br>
              <a:rPr lang="en-US" sz="2400" dirty="0"/>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2995806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6A37A-728C-08DC-B543-63A962150FB8}"/>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07CA319A-0FEA-9B64-DF5E-6860C9F6C1BA}"/>
              </a:ext>
            </a:extLst>
          </p:cNvPr>
          <p:cNvSpPr>
            <a:spLocks noGrp="1"/>
          </p:cNvSpPr>
          <p:nvPr>
            <p:ph type="subTitle" idx="1"/>
          </p:nvPr>
        </p:nvSpPr>
        <p:spPr>
          <a:xfrm>
            <a:off x="965289" y="1244184"/>
            <a:ext cx="9753625" cy="374754"/>
          </a:xfrm>
        </p:spPr>
        <p:txBody>
          <a:bodyPr/>
          <a:lstStyle/>
          <a:p>
            <a:pPr>
              <a:spcAft>
                <a:spcPts val="0"/>
              </a:spcAft>
            </a:pPr>
            <a:r>
              <a:rPr lang="en-US" dirty="0" err="1"/>
              <a:t>Visualisation</a:t>
            </a:r>
            <a:r>
              <a:rPr lang="en-US" dirty="0"/>
              <a:t> Part 1 (Scatterplot Code)</a:t>
            </a:r>
            <a:endParaRPr lang="en-GB" dirty="0">
              <a:solidFill>
                <a:srgbClr val="FF0000"/>
              </a:solidFill>
            </a:endParaRPr>
          </a:p>
        </p:txBody>
      </p:sp>
      <p:sp>
        <p:nvSpPr>
          <p:cNvPr id="3" name="Footer Placeholder 2">
            <a:extLst>
              <a:ext uri="{FF2B5EF4-FFF2-40B4-BE49-F238E27FC236}">
                <a16:creationId xmlns:a16="http://schemas.microsoft.com/office/drawing/2014/main" id="{2363A2EF-5B83-81BE-5CC3-ECC0B0495757}"/>
              </a:ext>
            </a:extLst>
          </p:cNvPr>
          <p:cNvSpPr>
            <a:spLocks noGrp="1"/>
          </p:cNvSpPr>
          <p:nvPr>
            <p:ph type="ftr" sz="quarter" idx="11"/>
          </p:nvPr>
        </p:nvSpPr>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D3D530A0-E369-E284-CD3A-6525FA4515DC}"/>
              </a:ext>
            </a:extLst>
          </p:cNvPr>
          <p:cNvSpPr>
            <a:spLocks noGrp="1"/>
          </p:cNvSpPr>
          <p:nvPr>
            <p:ph type="sldNum" sz="quarter" idx="12"/>
          </p:nvPr>
        </p:nvSpPr>
        <p:spPr>
          <a:xfrm>
            <a:off x="10616400" y="791022"/>
            <a:ext cx="622800" cy="230832"/>
          </a:xfrm>
        </p:spPr>
        <p:txBody>
          <a:bodyPr/>
          <a:lstStyle/>
          <a:p>
            <a:r>
              <a:rPr lang="en-US"/>
              <a:t>3</a:t>
            </a:r>
            <a:endParaRPr lang="en-GB"/>
          </a:p>
        </p:txBody>
      </p:sp>
      <p:pic>
        <p:nvPicPr>
          <p:cNvPr id="6" name="Picture 5" descr="A screen shot of a computer&#10;&#10;AI-generated content may be incorrect.">
            <a:extLst>
              <a:ext uri="{FF2B5EF4-FFF2-40B4-BE49-F238E27FC236}">
                <a16:creationId xmlns:a16="http://schemas.microsoft.com/office/drawing/2014/main" id="{3A624AB7-4C58-6088-0581-924D68856D3B}"/>
              </a:ext>
            </a:extLst>
          </p:cNvPr>
          <p:cNvPicPr>
            <a:picLocks noChangeAspect="1"/>
          </p:cNvPicPr>
          <p:nvPr/>
        </p:nvPicPr>
        <p:blipFill>
          <a:blip r:embed="rId3"/>
          <a:stretch>
            <a:fillRect/>
          </a:stretch>
        </p:blipFill>
        <p:spPr>
          <a:xfrm>
            <a:off x="1369862" y="2077653"/>
            <a:ext cx="8608698" cy="2584288"/>
          </a:xfrm>
          <a:prstGeom prst="rect">
            <a:avLst/>
          </a:prstGeom>
        </p:spPr>
      </p:pic>
    </p:spTree>
    <p:extLst>
      <p:ext uri="{BB962C8B-B14F-4D97-AF65-F5344CB8AC3E}">
        <p14:creationId xmlns:p14="http://schemas.microsoft.com/office/powerpoint/2010/main" val="455597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3C518-9728-A85B-3CB8-05397DC86F60}"/>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705D8033-BE6E-845E-3709-925E3AAAFD78}"/>
              </a:ext>
            </a:extLst>
          </p:cNvPr>
          <p:cNvSpPr>
            <a:spLocks noGrp="1"/>
          </p:cNvSpPr>
          <p:nvPr>
            <p:ph type="subTitle" idx="1"/>
          </p:nvPr>
        </p:nvSpPr>
        <p:spPr>
          <a:xfrm>
            <a:off x="965289" y="1244184"/>
            <a:ext cx="9753625" cy="374754"/>
          </a:xfrm>
        </p:spPr>
        <p:txBody>
          <a:bodyPr/>
          <a:lstStyle/>
          <a:p>
            <a:pPr>
              <a:spcAft>
                <a:spcPts val="0"/>
              </a:spcAft>
            </a:pPr>
            <a:r>
              <a:rPr lang="en-US" dirty="0" err="1"/>
              <a:t>Visualisation</a:t>
            </a:r>
            <a:r>
              <a:rPr lang="en-US" dirty="0"/>
              <a:t> Part 1 (Scatterplot)</a:t>
            </a:r>
            <a:endParaRPr lang="en-GB" dirty="0">
              <a:solidFill>
                <a:srgbClr val="FF0000"/>
              </a:solidFill>
            </a:endParaRPr>
          </a:p>
        </p:txBody>
      </p:sp>
      <p:sp>
        <p:nvSpPr>
          <p:cNvPr id="3" name="Footer Placeholder 2">
            <a:extLst>
              <a:ext uri="{FF2B5EF4-FFF2-40B4-BE49-F238E27FC236}">
                <a16:creationId xmlns:a16="http://schemas.microsoft.com/office/drawing/2014/main" id="{AF1E2DED-A11D-8CFC-9A39-9975F11149FD}"/>
              </a:ext>
            </a:extLst>
          </p:cNvPr>
          <p:cNvSpPr>
            <a:spLocks noGrp="1"/>
          </p:cNvSpPr>
          <p:nvPr>
            <p:ph type="ftr" sz="quarter" idx="11"/>
          </p:nvPr>
        </p:nvSpPr>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2F32B691-6908-FCA5-45DD-00D6BCEDECEE}"/>
              </a:ext>
            </a:extLst>
          </p:cNvPr>
          <p:cNvSpPr>
            <a:spLocks noGrp="1"/>
          </p:cNvSpPr>
          <p:nvPr>
            <p:ph type="sldNum" sz="quarter" idx="12"/>
          </p:nvPr>
        </p:nvSpPr>
        <p:spPr>
          <a:xfrm>
            <a:off x="10616400" y="791022"/>
            <a:ext cx="622800" cy="230832"/>
          </a:xfrm>
        </p:spPr>
        <p:txBody>
          <a:bodyPr/>
          <a:lstStyle/>
          <a:p>
            <a:r>
              <a:rPr lang="en-US" dirty="0"/>
              <a:t>3</a:t>
            </a:r>
            <a:endParaRPr lang="en-GB" dirty="0"/>
          </a:p>
        </p:txBody>
      </p:sp>
      <p:pic>
        <p:nvPicPr>
          <p:cNvPr id="5" name="Picture 4" descr="A diagram of a scatter plot&#10;&#10;AI-generated content may be incorrect.">
            <a:extLst>
              <a:ext uri="{FF2B5EF4-FFF2-40B4-BE49-F238E27FC236}">
                <a16:creationId xmlns:a16="http://schemas.microsoft.com/office/drawing/2014/main" id="{B8CC0C21-A5DF-560F-3417-FA1AAC5E86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9537" y="1841268"/>
            <a:ext cx="6479040" cy="4319121"/>
          </a:xfrm>
          <a:prstGeom prst="rect">
            <a:avLst/>
          </a:prstGeom>
        </p:spPr>
      </p:pic>
    </p:spTree>
    <p:extLst>
      <p:ext uri="{BB962C8B-B14F-4D97-AF65-F5344CB8AC3E}">
        <p14:creationId xmlns:p14="http://schemas.microsoft.com/office/powerpoint/2010/main" val="50332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57A84-C357-4416-74D9-9BA2FBE1DE25}"/>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65883BCD-1D14-D88B-D3CB-B67B37EC3F0D}"/>
              </a:ext>
            </a:extLst>
          </p:cNvPr>
          <p:cNvSpPr>
            <a:spLocks noGrp="1"/>
          </p:cNvSpPr>
          <p:nvPr>
            <p:ph type="subTitle" idx="1"/>
          </p:nvPr>
        </p:nvSpPr>
        <p:spPr>
          <a:xfrm>
            <a:off x="680476" y="1394085"/>
            <a:ext cx="10067472" cy="374754"/>
          </a:xfrm>
        </p:spPr>
        <p:txBody>
          <a:bodyPr/>
          <a:lstStyle/>
          <a:p>
            <a:pPr>
              <a:spcAft>
                <a:spcPts val="0"/>
              </a:spcAft>
            </a:pPr>
            <a:r>
              <a:rPr lang="en-US" dirty="0" err="1"/>
              <a:t>Visualisation</a:t>
            </a:r>
            <a:r>
              <a:rPr lang="en-US" dirty="0"/>
              <a:t> Part 2 (Histogram + Normal Curve)</a:t>
            </a:r>
            <a:endParaRPr lang="en-GB" dirty="0">
              <a:solidFill>
                <a:srgbClr val="FF0000"/>
              </a:solidFill>
            </a:endParaRPr>
          </a:p>
        </p:txBody>
      </p:sp>
      <p:sp>
        <p:nvSpPr>
          <p:cNvPr id="3" name="Footer Placeholder 2">
            <a:extLst>
              <a:ext uri="{FF2B5EF4-FFF2-40B4-BE49-F238E27FC236}">
                <a16:creationId xmlns:a16="http://schemas.microsoft.com/office/drawing/2014/main" id="{5C7EAFBB-1DFE-84D4-0A9A-A9E3AB9A4346}"/>
              </a:ext>
            </a:extLst>
          </p:cNvPr>
          <p:cNvSpPr>
            <a:spLocks noGrp="1"/>
          </p:cNvSpPr>
          <p:nvPr>
            <p:ph type="ftr" sz="quarter" idx="11"/>
          </p:nvPr>
        </p:nvSpPr>
        <p:spPr>
          <a:xfrm>
            <a:off x="932813" y="791022"/>
            <a:ext cx="7176911" cy="230832"/>
          </a:xfrm>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A0AC29B7-D6C1-0195-4107-737E172CA847}"/>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FA75D39C-C1A7-1761-CC7D-ABD20B597320}"/>
              </a:ext>
            </a:extLst>
          </p:cNvPr>
          <p:cNvSpPr>
            <a:spLocks noGrp="1"/>
          </p:cNvSpPr>
          <p:nvPr>
            <p:ph type="ctrTitle"/>
          </p:nvPr>
        </p:nvSpPr>
        <p:spPr>
          <a:xfrm>
            <a:off x="906256" y="1991169"/>
            <a:ext cx="10961306" cy="5016732"/>
          </a:xfrm>
        </p:spPr>
        <p:txBody>
          <a:bodyPr>
            <a:noAutofit/>
          </a:bodyPr>
          <a:lstStyle/>
          <a:p>
            <a:pPr>
              <a:lnSpc>
                <a:spcPct val="150000"/>
              </a:lnSpc>
            </a:pPr>
            <a:r>
              <a:rPr lang="en-US" sz="2400" dirty="0"/>
              <a:t>Histogram of Daily Closing Prices</a:t>
            </a:r>
            <a:br>
              <a:rPr lang="en-US" sz="2400" dirty="0"/>
            </a:br>
            <a:r>
              <a:rPr lang="en-US" sz="2400" dirty="0"/>
              <a:t>Displays how Mobius closing prices are distributed.</a:t>
            </a:r>
            <a:br>
              <a:rPr lang="en-US" sz="2400" dirty="0"/>
            </a:br>
            <a:r>
              <a:rPr lang="en-US" sz="2400" dirty="0"/>
              <a:t>The distribution is right-skewed: most prices are low, but occasional peaks occur.</a:t>
            </a:r>
            <a:br>
              <a:rPr lang="en-US" sz="2400" dirty="0"/>
            </a:br>
            <a:r>
              <a:rPr lang="en-US" sz="2400" dirty="0"/>
              <a:t>Histogram supports checking normality assumptions for Pearson’s correlation.</a:t>
            </a:r>
            <a:br>
              <a:rPr lang="en-US" sz="2400" dirty="0"/>
            </a:br>
            <a:br>
              <a:rPr lang="en-US" sz="2400" dirty="0"/>
            </a:br>
            <a:br>
              <a:rPr lang="en-US" sz="2400" dirty="0"/>
            </a:br>
            <a:br>
              <a:rPr lang="en-US" sz="2400" dirty="0"/>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2804183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961CB-B05F-2587-0C6F-C8CCDDEA125E}"/>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FA34F124-72EF-C882-071B-B3A8EF51848D}"/>
              </a:ext>
            </a:extLst>
          </p:cNvPr>
          <p:cNvSpPr>
            <a:spLocks noGrp="1"/>
          </p:cNvSpPr>
          <p:nvPr>
            <p:ph type="subTitle" idx="1"/>
          </p:nvPr>
        </p:nvSpPr>
        <p:spPr>
          <a:xfrm>
            <a:off x="680476" y="1394085"/>
            <a:ext cx="10067472" cy="374754"/>
          </a:xfrm>
        </p:spPr>
        <p:txBody>
          <a:bodyPr/>
          <a:lstStyle/>
          <a:p>
            <a:pPr>
              <a:spcAft>
                <a:spcPts val="0"/>
              </a:spcAft>
            </a:pPr>
            <a:r>
              <a:rPr lang="en-US" dirty="0" err="1"/>
              <a:t>Visualisation</a:t>
            </a:r>
            <a:r>
              <a:rPr lang="en-US" dirty="0"/>
              <a:t> Part 2 (Histogram Code)</a:t>
            </a:r>
            <a:endParaRPr lang="en-GB" dirty="0">
              <a:solidFill>
                <a:srgbClr val="FF0000"/>
              </a:solidFill>
            </a:endParaRPr>
          </a:p>
        </p:txBody>
      </p:sp>
      <p:sp>
        <p:nvSpPr>
          <p:cNvPr id="3" name="Footer Placeholder 2">
            <a:extLst>
              <a:ext uri="{FF2B5EF4-FFF2-40B4-BE49-F238E27FC236}">
                <a16:creationId xmlns:a16="http://schemas.microsoft.com/office/drawing/2014/main" id="{288DCA4E-1344-8D50-D402-ACB300F698F9}"/>
              </a:ext>
            </a:extLst>
          </p:cNvPr>
          <p:cNvSpPr>
            <a:spLocks noGrp="1"/>
          </p:cNvSpPr>
          <p:nvPr>
            <p:ph type="ftr" sz="quarter" idx="11"/>
          </p:nvPr>
        </p:nvSpPr>
        <p:spPr>
          <a:xfrm>
            <a:off x="932813" y="791022"/>
            <a:ext cx="7176911" cy="230832"/>
          </a:xfrm>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BC6D91B1-8929-1D99-7C29-815EED507FE6}"/>
              </a:ext>
            </a:extLst>
          </p:cNvPr>
          <p:cNvSpPr>
            <a:spLocks noGrp="1"/>
          </p:cNvSpPr>
          <p:nvPr>
            <p:ph type="sldNum" sz="quarter" idx="12"/>
          </p:nvPr>
        </p:nvSpPr>
        <p:spPr>
          <a:xfrm>
            <a:off x="10616400" y="791022"/>
            <a:ext cx="622800" cy="230832"/>
          </a:xfrm>
        </p:spPr>
        <p:txBody>
          <a:bodyPr/>
          <a:lstStyle/>
          <a:p>
            <a:r>
              <a:rPr lang="en-US"/>
              <a:t>3</a:t>
            </a:r>
            <a:endParaRPr lang="en-GB"/>
          </a:p>
        </p:txBody>
      </p:sp>
      <p:pic>
        <p:nvPicPr>
          <p:cNvPr id="6" name="Picture 5" descr="A black background with white text&#10;&#10;AI-generated content may be incorrect.">
            <a:extLst>
              <a:ext uri="{FF2B5EF4-FFF2-40B4-BE49-F238E27FC236}">
                <a16:creationId xmlns:a16="http://schemas.microsoft.com/office/drawing/2014/main" id="{321F556F-05EE-F434-84DA-A961CB1B8EA1}"/>
              </a:ext>
            </a:extLst>
          </p:cNvPr>
          <p:cNvPicPr>
            <a:picLocks noChangeAspect="1"/>
          </p:cNvPicPr>
          <p:nvPr/>
        </p:nvPicPr>
        <p:blipFill>
          <a:blip r:embed="rId3"/>
          <a:stretch>
            <a:fillRect/>
          </a:stretch>
        </p:blipFill>
        <p:spPr>
          <a:xfrm>
            <a:off x="1501060" y="2021148"/>
            <a:ext cx="9426740" cy="2296019"/>
          </a:xfrm>
          <a:prstGeom prst="rect">
            <a:avLst/>
          </a:prstGeom>
        </p:spPr>
      </p:pic>
    </p:spTree>
    <p:extLst>
      <p:ext uri="{BB962C8B-B14F-4D97-AF65-F5344CB8AC3E}">
        <p14:creationId xmlns:p14="http://schemas.microsoft.com/office/powerpoint/2010/main" val="3085726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697A-E3BC-8AAC-8E40-E9E435A3E6C6}"/>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342A37D0-C4DC-7A68-7A01-B1AC8F088406}"/>
              </a:ext>
            </a:extLst>
          </p:cNvPr>
          <p:cNvSpPr>
            <a:spLocks noGrp="1"/>
          </p:cNvSpPr>
          <p:nvPr>
            <p:ph type="subTitle" idx="1"/>
          </p:nvPr>
        </p:nvSpPr>
        <p:spPr>
          <a:xfrm>
            <a:off x="965289" y="1244184"/>
            <a:ext cx="10273911" cy="374754"/>
          </a:xfrm>
        </p:spPr>
        <p:txBody>
          <a:bodyPr/>
          <a:lstStyle/>
          <a:p>
            <a:pPr>
              <a:spcAft>
                <a:spcPts val="0"/>
              </a:spcAft>
            </a:pPr>
            <a:r>
              <a:rPr lang="en-US" dirty="0" err="1"/>
              <a:t>Visualisation</a:t>
            </a:r>
            <a:r>
              <a:rPr lang="en-US" dirty="0"/>
              <a:t> Part 2 (Histogram + Normal Curve)</a:t>
            </a:r>
            <a:endParaRPr lang="en-GB" dirty="0">
              <a:solidFill>
                <a:srgbClr val="FF0000"/>
              </a:solidFill>
            </a:endParaRPr>
          </a:p>
        </p:txBody>
      </p:sp>
      <p:sp>
        <p:nvSpPr>
          <p:cNvPr id="3" name="Footer Placeholder 2">
            <a:extLst>
              <a:ext uri="{FF2B5EF4-FFF2-40B4-BE49-F238E27FC236}">
                <a16:creationId xmlns:a16="http://schemas.microsoft.com/office/drawing/2014/main" id="{9B427F87-1C11-50E1-2E92-4DE717AAD3A3}"/>
              </a:ext>
            </a:extLst>
          </p:cNvPr>
          <p:cNvSpPr>
            <a:spLocks noGrp="1"/>
          </p:cNvSpPr>
          <p:nvPr>
            <p:ph type="ftr" sz="quarter" idx="11"/>
          </p:nvPr>
        </p:nvSpPr>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830C5F2C-CCA2-F0ED-5BA5-392EEB46ECC3}"/>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7" name="AutoShape 4">
            <a:extLst>
              <a:ext uri="{FF2B5EF4-FFF2-40B4-BE49-F238E27FC236}">
                <a16:creationId xmlns:a16="http://schemas.microsoft.com/office/drawing/2014/main" id="{8334D4C5-3016-A248-DFD9-D0C674FF453C}"/>
              </a:ext>
            </a:extLst>
          </p:cNvPr>
          <p:cNvSpPr>
            <a:spLocks noChangeAspect="1" noChangeArrowheads="1"/>
          </p:cNvSpPr>
          <p:nvPr/>
        </p:nvSpPr>
        <p:spPr bwMode="auto">
          <a:xfrm>
            <a:off x="5943599" y="148653"/>
            <a:ext cx="3432747" cy="343274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descr="A graph of a price&#10;&#10;AI-generated content may be incorrect.">
            <a:extLst>
              <a:ext uri="{FF2B5EF4-FFF2-40B4-BE49-F238E27FC236}">
                <a16:creationId xmlns:a16="http://schemas.microsoft.com/office/drawing/2014/main" id="{80ADD2B1-AADF-4A61-2344-6B901F9471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7947" y="1807540"/>
            <a:ext cx="5986073" cy="4593132"/>
          </a:xfrm>
          <a:prstGeom prst="rect">
            <a:avLst/>
          </a:prstGeom>
        </p:spPr>
      </p:pic>
    </p:spTree>
    <p:extLst>
      <p:ext uri="{BB962C8B-B14F-4D97-AF65-F5344CB8AC3E}">
        <p14:creationId xmlns:p14="http://schemas.microsoft.com/office/powerpoint/2010/main" val="1813725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D483A-8FE9-A9C4-14FE-CC6F3BBBF418}"/>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80105852-46E0-3C31-E099-848DEA977725}"/>
              </a:ext>
            </a:extLst>
          </p:cNvPr>
          <p:cNvSpPr>
            <a:spLocks noGrp="1"/>
          </p:cNvSpPr>
          <p:nvPr>
            <p:ph type="subTitle" idx="1"/>
          </p:nvPr>
        </p:nvSpPr>
        <p:spPr>
          <a:xfrm>
            <a:off x="680476" y="1394085"/>
            <a:ext cx="10067472" cy="374754"/>
          </a:xfrm>
        </p:spPr>
        <p:txBody>
          <a:bodyPr/>
          <a:lstStyle/>
          <a:p>
            <a:pPr>
              <a:spcAft>
                <a:spcPts val="0"/>
              </a:spcAft>
            </a:pPr>
            <a:r>
              <a:rPr lang="en-US" dirty="0"/>
              <a:t> Analysis: Statistical Test</a:t>
            </a:r>
            <a:endParaRPr lang="en-GB" dirty="0">
              <a:solidFill>
                <a:srgbClr val="FF0000"/>
              </a:solidFill>
            </a:endParaRPr>
          </a:p>
        </p:txBody>
      </p:sp>
      <p:sp>
        <p:nvSpPr>
          <p:cNvPr id="3" name="Footer Placeholder 2">
            <a:extLst>
              <a:ext uri="{FF2B5EF4-FFF2-40B4-BE49-F238E27FC236}">
                <a16:creationId xmlns:a16="http://schemas.microsoft.com/office/drawing/2014/main" id="{9DF06517-3BBD-D52B-214E-AE3E1593C66D}"/>
              </a:ext>
            </a:extLst>
          </p:cNvPr>
          <p:cNvSpPr>
            <a:spLocks noGrp="1"/>
          </p:cNvSpPr>
          <p:nvPr>
            <p:ph type="ftr" sz="quarter" idx="11"/>
          </p:nvPr>
        </p:nvSpPr>
        <p:spPr>
          <a:xfrm>
            <a:off x="932813" y="791022"/>
            <a:ext cx="7176911" cy="230832"/>
          </a:xfrm>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E5B6EB67-F929-606E-8933-A66F5D79BF91}"/>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19FB83AE-0ABC-B930-7DA0-8CD008D08F72}"/>
              </a:ext>
            </a:extLst>
          </p:cNvPr>
          <p:cNvSpPr>
            <a:spLocks noGrp="1"/>
          </p:cNvSpPr>
          <p:nvPr>
            <p:ph type="ctrTitle"/>
          </p:nvPr>
        </p:nvSpPr>
        <p:spPr>
          <a:xfrm>
            <a:off x="932813" y="2006160"/>
            <a:ext cx="10961306" cy="5016732"/>
          </a:xfrm>
        </p:spPr>
        <p:txBody>
          <a:bodyPr>
            <a:noAutofit/>
          </a:bodyPr>
          <a:lstStyle/>
          <a:p>
            <a:pPr>
              <a:lnSpc>
                <a:spcPct val="150000"/>
              </a:lnSpc>
            </a:pPr>
            <a:r>
              <a:rPr lang="en-US" sz="2400" dirty="0"/>
              <a:t>Statistical Test Used</a:t>
            </a:r>
            <a:br>
              <a:rPr lang="en-US" sz="2400" dirty="0"/>
            </a:br>
            <a:r>
              <a:rPr lang="en-US" sz="2400" dirty="0"/>
              <a:t>We use Pearson’s correlation coefficient because:</a:t>
            </a:r>
            <a:br>
              <a:rPr lang="en-US" sz="2400" dirty="0"/>
            </a:br>
            <a:r>
              <a:rPr lang="en-US" sz="2400" dirty="0"/>
              <a:t>Both variables (Opening and Closing Price) are continuous interval data.</a:t>
            </a:r>
            <a:br>
              <a:rPr lang="en-US" sz="2400" dirty="0"/>
            </a:br>
            <a:r>
              <a:rPr lang="en-US" sz="2400" dirty="0"/>
              <a:t>Pearson’s r measures linear association, which fits our scatterplot pattern.</a:t>
            </a:r>
            <a:br>
              <a:rPr lang="en-US" sz="2400" dirty="0"/>
            </a:br>
            <a:r>
              <a:rPr lang="en-US" sz="2400" dirty="0"/>
              <a:t>Commonly used in financial time-series analysis.</a:t>
            </a:r>
            <a:br>
              <a:rPr lang="en-US" sz="2400" dirty="0"/>
            </a:br>
            <a:br>
              <a:rPr lang="en-US" sz="2400" dirty="0"/>
            </a:br>
            <a:br>
              <a:rPr lang="en-US" sz="2400" dirty="0"/>
            </a:br>
            <a:br>
              <a:rPr lang="en-US" sz="2400" dirty="0"/>
            </a:br>
            <a:br>
              <a:rPr lang="en-US" sz="2400" dirty="0"/>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pic>
        <p:nvPicPr>
          <p:cNvPr id="7" name="Picture 6" descr="A black screen with white text&#10;&#10;AI-generated content may be incorrect.">
            <a:extLst>
              <a:ext uri="{FF2B5EF4-FFF2-40B4-BE49-F238E27FC236}">
                <a16:creationId xmlns:a16="http://schemas.microsoft.com/office/drawing/2014/main" id="{89DE75B4-B02B-A8FF-283F-09BC1DD75A61}"/>
              </a:ext>
            </a:extLst>
          </p:cNvPr>
          <p:cNvPicPr>
            <a:picLocks noChangeAspect="1"/>
          </p:cNvPicPr>
          <p:nvPr/>
        </p:nvPicPr>
        <p:blipFill>
          <a:blip r:embed="rId3"/>
          <a:stretch>
            <a:fillRect/>
          </a:stretch>
        </p:blipFill>
        <p:spPr>
          <a:xfrm>
            <a:off x="3192904" y="4882808"/>
            <a:ext cx="7423495" cy="830887"/>
          </a:xfrm>
          <a:prstGeom prst="rect">
            <a:avLst/>
          </a:prstGeom>
        </p:spPr>
      </p:pic>
    </p:spTree>
    <p:extLst>
      <p:ext uri="{BB962C8B-B14F-4D97-AF65-F5344CB8AC3E}">
        <p14:creationId xmlns:p14="http://schemas.microsoft.com/office/powerpoint/2010/main" val="710536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DDBF5-4183-DEA6-0232-1332AB7A9EA9}"/>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ADD1E64E-8A67-A8AC-0577-251B0D1AB3EF}"/>
              </a:ext>
            </a:extLst>
          </p:cNvPr>
          <p:cNvSpPr>
            <a:spLocks noGrp="1"/>
          </p:cNvSpPr>
          <p:nvPr>
            <p:ph type="subTitle" idx="1"/>
          </p:nvPr>
        </p:nvSpPr>
        <p:spPr>
          <a:xfrm>
            <a:off x="680476" y="1394085"/>
            <a:ext cx="10067472" cy="374754"/>
          </a:xfrm>
        </p:spPr>
        <p:txBody>
          <a:bodyPr/>
          <a:lstStyle/>
          <a:p>
            <a:pPr>
              <a:spcAft>
                <a:spcPts val="0"/>
              </a:spcAft>
            </a:pPr>
            <a:r>
              <a:rPr lang="en-US" dirty="0"/>
              <a:t> Statistical Output &amp; Interpretation</a:t>
            </a:r>
            <a:endParaRPr lang="en-GB" dirty="0">
              <a:solidFill>
                <a:srgbClr val="FF0000"/>
              </a:solidFill>
            </a:endParaRPr>
          </a:p>
        </p:txBody>
      </p:sp>
      <p:sp>
        <p:nvSpPr>
          <p:cNvPr id="3" name="Footer Placeholder 2">
            <a:extLst>
              <a:ext uri="{FF2B5EF4-FFF2-40B4-BE49-F238E27FC236}">
                <a16:creationId xmlns:a16="http://schemas.microsoft.com/office/drawing/2014/main" id="{F7C499BA-ECD7-8EE7-C7FB-ACBF328E79AF}"/>
              </a:ext>
            </a:extLst>
          </p:cNvPr>
          <p:cNvSpPr>
            <a:spLocks noGrp="1"/>
          </p:cNvSpPr>
          <p:nvPr>
            <p:ph type="ftr" sz="quarter" idx="11"/>
          </p:nvPr>
        </p:nvSpPr>
        <p:spPr>
          <a:xfrm>
            <a:off x="932813" y="791022"/>
            <a:ext cx="7176911" cy="230832"/>
          </a:xfrm>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2515C52C-CECA-5B4D-F06F-74EC4838475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29F127A9-3241-301E-82B1-8C3ADF9BE566}"/>
              </a:ext>
            </a:extLst>
          </p:cNvPr>
          <p:cNvSpPr>
            <a:spLocks noGrp="1"/>
          </p:cNvSpPr>
          <p:nvPr>
            <p:ph type="ctrTitle"/>
          </p:nvPr>
        </p:nvSpPr>
        <p:spPr>
          <a:xfrm>
            <a:off x="932813" y="2006160"/>
            <a:ext cx="10961306" cy="5016732"/>
          </a:xfrm>
        </p:spPr>
        <p:txBody>
          <a:bodyPr>
            <a:noAutofit/>
          </a:bodyPr>
          <a:lstStyle/>
          <a:p>
            <a:pPr>
              <a:lnSpc>
                <a:spcPct val="150000"/>
              </a:lnSpc>
            </a:pPr>
            <a:r>
              <a:rPr lang="en-US" sz="2400" dirty="0"/>
              <a:t>Pearson’s Correlation Test Output:</a:t>
            </a:r>
            <a:br>
              <a:rPr lang="en-US" sz="2400" dirty="0"/>
            </a:br>
            <a:r>
              <a:rPr lang="en-US" sz="2400" dirty="0"/>
              <a:t>Correlation (r): 0.9718</a:t>
            </a:r>
            <a:br>
              <a:rPr lang="en-US" sz="2400" dirty="0"/>
            </a:br>
            <a:r>
              <a:rPr lang="en-US" sz="2400" dirty="0"/>
              <a:t>p-value &lt; 2.2e-16</a:t>
            </a:r>
            <a:br>
              <a:rPr lang="en-US" sz="2400" dirty="0"/>
            </a:br>
            <a:r>
              <a:rPr lang="en-US" sz="2400" dirty="0"/>
              <a:t>95% CI: 0.9657 – 0.9768</a:t>
            </a:r>
            <a:br>
              <a:rPr lang="en-US" sz="2400" dirty="0"/>
            </a:br>
            <a:r>
              <a:rPr lang="en-US" sz="2400" dirty="0"/>
              <a:t>Decision:</a:t>
            </a:r>
            <a:br>
              <a:rPr lang="en-US" sz="2400" dirty="0"/>
            </a:br>
            <a:r>
              <a:rPr lang="en-US" sz="2400" dirty="0"/>
              <a:t>p &lt; 0.05 → Reject H₀</a:t>
            </a:r>
            <a:br>
              <a:rPr lang="en-US" sz="2400" dirty="0"/>
            </a:br>
            <a:br>
              <a:rPr lang="en-US" sz="2400" dirty="0"/>
            </a:br>
            <a:br>
              <a:rPr lang="en-US" sz="2400" dirty="0"/>
            </a:br>
            <a:br>
              <a:rPr lang="en-US" sz="2400" dirty="0"/>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pic>
        <p:nvPicPr>
          <p:cNvPr id="8" name="Picture 7" descr="A screenshot of a computer program&#10;&#10;AI-generated content may be incorrect.">
            <a:extLst>
              <a:ext uri="{FF2B5EF4-FFF2-40B4-BE49-F238E27FC236}">
                <a16:creationId xmlns:a16="http://schemas.microsoft.com/office/drawing/2014/main" id="{C30E183C-5D9B-38A0-CD4E-49E47F064706}"/>
              </a:ext>
            </a:extLst>
          </p:cNvPr>
          <p:cNvPicPr>
            <a:picLocks noChangeAspect="1"/>
          </p:cNvPicPr>
          <p:nvPr/>
        </p:nvPicPr>
        <p:blipFill>
          <a:blip r:embed="rId3"/>
          <a:stretch>
            <a:fillRect/>
          </a:stretch>
        </p:blipFill>
        <p:spPr>
          <a:xfrm>
            <a:off x="5469454" y="2006160"/>
            <a:ext cx="6424665" cy="3357796"/>
          </a:xfrm>
          <a:prstGeom prst="rect">
            <a:avLst/>
          </a:prstGeom>
        </p:spPr>
      </p:pic>
    </p:spTree>
    <p:extLst>
      <p:ext uri="{BB962C8B-B14F-4D97-AF65-F5344CB8AC3E}">
        <p14:creationId xmlns:p14="http://schemas.microsoft.com/office/powerpoint/2010/main" val="3284336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91DD8-35A3-9F98-9AE9-C5B3602B5F2B}"/>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CEA30026-4569-51B4-F62D-D6F73D92C685}"/>
              </a:ext>
            </a:extLst>
          </p:cNvPr>
          <p:cNvSpPr>
            <a:spLocks noGrp="1"/>
          </p:cNvSpPr>
          <p:nvPr>
            <p:ph type="subTitle" idx="1"/>
          </p:nvPr>
        </p:nvSpPr>
        <p:spPr>
          <a:xfrm>
            <a:off x="680476" y="1394085"/>
            <a:ext cx="10067472" cy="374754"/>
          </a:xfrm>
        </p:spPr>
        <p:txBody>
          <a:bodyPr/>
          <a:lstStyle/>
          <a:p>
            <a:pPr>
              <a:spcAft>
                <a:spcPts val="0"/>
              </a:spcAft>
            </a:pPr>
            <a:r>
              <a:rPr lang="en-US" dirty="0"/>
              <a:t> Statistical Output &amp; Interpretation</a:t>
            </a:r>
            <a:endParaRPr lang="en-GB" dirty="0">
              <a:solidFill>
                <a:srgbClr val="FF0000"/>
              </a:solidFill>
            </a:endParaRPr>
          </a:p>
        </p:txBody>
      </p:sp>
      <p:sp>
        <p:nvSpPr>
          <p:cNvPr id="3" name="Footer Placeholder 2">
            <a:extLst>
              <a:ext uri="{FF2B5EF4-FFF2-40B4-BE49-F238E27FC236}">
                <a16:creationId xmlns:a16="http://schemas.microsoft.com/office/drawing/2014/main" id="{4AA72400-CEE3-B779-1768-A26324BA4908}"/>
              </a:ext>
            </a:extLst>
          </p:cNvPr>
          <p:cNvSpPr>
            <a:spLocks noGrp="1"/>
          </p:cNvSpPr>
          <p:nvPr>
            <p:ph type="ftr" sz="quarter" idx="11"/>
          </p:nvPr>
        </p:nvSpPr>
        <p:spPr>
          <a:xfrm>
            <a:off x="932813" y="791022"/>
            <a:ext cx="7176911" cy="230832"/>
          </a:xfrm>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B6C8487C-ACCA-C6B9-E270-4752CBD0F451}"/>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ADC8400E-4E29-AADA-F1E7-F88E78E07201}"/>
              </a:ext>
            </a:extLst>
          </p:cNvPr>
          <p:cNvSpPr>
            <a:spLocks noGrp="1"/>
          </p:cNvSpPr>
          <p:nvPr>
            <p:ph type="ctrTitle"/>
          </p:nvPr>
        </p:nvSpPr>
        <p:spPr>
          <a:xfrm>
            <a:off x="932813" y="2006160"/>
            <a:ext cx="10961306" cy="5016732"/>
          </a:xfrm>
        </p:spPr>
        <p:txBody>
          <a:bodyPr>
            <a:noAutofit/>
          </a:bodyPr>
          <a:lstStyle/>
          <a:p>
            <a:pPr>
              <a:lnSpc>
                <a:spcPct val="150000"/>
              </a:lnSpc>
            </a:pPr>
            <a:r>
              <a:rPr lang="en-US" sz="2400" dirty="0"/>
              <a:t>Interpretation:</a:t>
            </a:r>
            <a:br>
              <a:rPr lang="en-US" sz="2400" dirty="0"/>
            </a:br>
            <a:r>
              <a:rPr lang="en-US" sz="2400" dirty="0"/>
              <a:t>The correlation is very strong and positive (r ≈ 0.97). This means when Mobius opens at a high price, it almost always closes high too. Indicates high intraday consistency, suggesting stable market </a:t>
            </a:r>
            <a:r>
              <a:rPr lang="en-US" sz="2400" dirty="0" err="1"/>
              <a:t>behaviour</a:t>
            </a:r>
            <a:r>
              <a:rPr lang="en-US" sz="2400" dirty="0"/>
              <a:t> for this asset. Supports existing financial literature showing structured intraday movement in crypto markets.</a:t>
            </a:r>
            <a:br>
              <a:rPr lang="en-US" sz="2400" dirty="0"/>
            </a:br>
            <a:br>
              <a:rPr lang="en-US" sz="2400" dirty="0"/>
            </a:br>
            <a:br>
              <a:rPr lang="en-US" sz="2400" dirty="0"/>
            </a:br>
            <a:br>
              <a:rPr lang="en-US" sz="2400" dirty="0"/>
            </a:br>
            <a:br>
              <a:rPr lang="en-US" sz="2400" dirty="0"/>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4094034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170EA-5C33-6E21-0D48-1F6A6CF55E17}"/>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FDFCDD93-BDF4-D0A5-CE1F-F3FB8CDB02C2}"/>
              </a:ext>
            </a:extLst>
          </p:cNvPr>
          <p:cNvSpPr>
            <a:spLocks noGrp="1"/>
          </p:cNvSpPr>
          <p:nvPr>
            <p:ph type="subTitle" idx="1"/>
          </p:nvPr>
        </p:nvSpPr>
        <p:spPr>
          <a:xfrm>
            <a:off x="680476" y="1394085"/>
            <a:ext cx="10067472" cy="374754"/>
          </a:xfrm>
        </p:spPr>
        <p:txBody>
          <a:bodyPr/>
          <a:lstStyle/>
          <a:p>
            <a:pPr>
              <a:spcAft>
                <a:spcPts val="0"/>
              </a:spcAft>
            </a:pPr>
            <a:r>
              <a:rPr lang="en-US" dirty="0"/>
              <a:t> Conclusion</a:t>
            </a:r>
            <a:endParaRPr lang="en-GB" dirty="0">
              <a:solidFill>
                <a:srgbClr val="FF0000"/>
              </a:solidFill>
            </a:endParaRPr>
          </a:p>
        </p:txBody>
      </p:sp>
      <p:sp>
        <p:nvSpPr>
          <p:cNvPr id="3" name="Footer Placeholder 2">
            <a:extLst>
              <a:ext uri="{FF2B5EF4-FFF2-40B4-BE49-F238E27FC236}">
                <a16:creationId xmlns:a16="http://schemas.microsoft.com/office/drawing/2014/main" id="{00AF17B6-EE09-2B2A-EEAB-F5D74C2293EF}"/>
              </a:ext>
            </a:extLst>
          </p:cNvPr>
          <p:cNvSpPr>
            <a:spLocks noGrp="1"/>
          </p:cNvSpPr>
          <p:nvPr>
            <p:ph type="ftr" sz="quarter" idx="11"/>
          </p:nvPr>
        </p:nvSpPr>
        <p:spPr>
          <a:xfrm>
            <a:off x="932813" y="791022"/>
            <a:ext cx="7176911" cy="230832"/>
          </a:xfrm>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CC0EB36A-1832-CE08-58B8-42ECA8B08D47}"/>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1F9C0CF1-AEEA-DB10-4ECF-72384C16794E}"/>
              </a:ext>
            </a:extLst>
          </p:cNvPr>
          <p:cNvSpPr>
            <a:spLocks noGrp="1"/>
          </p:cNvSpPr>
          <p:nvPr>
            <p:ph type="ctrTitle"/>
          </p:nvPr>
        </p:nvSpPr>
        <p:spPr>
          <a:xfrm>
            <a:off x="932813" y="1768840"/>
            <a:ext cx="11059318" cy="2173573"/>
          </a:xfrm>
        </p:spPr>
        <p:txBody>
          <a:bodyPr>
            <a:noAutofit/>
          </a:bodyPr>
          <a:lstStyle/>
          <a:p>
            <a:pPr>
              <a:lnSpc>
                <a:spcPct val="150000"/>
              </a:lnSpc>
            </a:pPr>
            <a:r>
              <a:rPr lang="en-US" sz="2400" dirty="0"/>
              <a:t>There is a strong and significant correlation between opening and closing prices. </a:t>
            </a:r>
            <a:br>
              <a:rPr lang="en-US" sz="2400" dirty="0"/>
            </a:br>
            <a:r>
              <a:rPr lang="en-US" sz="2400" dirty="0"/>
              <a:t>This allows us to reject the null hypothesis.</a:t>
            </a:r>
            <a:br>
              <a:rPr lang="en-US" sz="2400" dirty="0"/>
            </a:br>
            <a:r>
              <a:rPr lang="en-US" sz="2400" dirty="0"/>
              <a:t>Mobius demonstrates predictable daily price movement, meaning opening price is a good indicator of closing price.</a:t>
            </a:r>
            <a:br>
              <a:rPr lang="en-US" sz="2400" dirty="0"/>
            </a:br>
            <a:r>
              <a:rPr lang="en-US" sz="2400" dirty="0"/>
              <a:t>Future work could explore: Non-linear relationships</a:t>
            </a:r>
            <a:br>
              <a:rPr lang="en-US" sz="2400" dirty="0"/>
            </a:br>
            <a:r>
              <a:rPr lang="en-US" sz="2400" dirty="0"/>
              <a:t>                                                         Volatility clustering</a:t>
            </a:r>
            <a:br>
              <a:rPr lang="en-US" sz="2400" dirty="0"/>
            </a:br>
            <a:r>
              <a:rPr lang="en-US" sz="2400" dirty="0"/>
              <a:t>                                                         Comparing Mobius with other cryptocurrencies</a:t>
            </a:r>
            <a:br>
              <a:rPr lang="en-US" sz="2400" dirty="0"/>
            </a:br>
            <a:br>
              <a:rPr lang="en-US" sz="2400" dirty="0"/>
            </a:br>
            <a:br>
              <a:rPr lang="en-US" sz="2400" dirty="0"/>
            </a:br>
            <a:br>
              <a:rPr lang="en-US" sz="2400" dirty="0"/>
            </a:br>
            <a:br>
              <a:rPr lang="en-US" sz="2400" dirty="0"/>
            </a:br>
            <a:br>
              <a:rPr lang="en-US" sz="2400" dirty="0"/>
            </a:br>
            <a:br>
              <a:rPr lang="en-US" sz="2400" dirty="0"/>
            </a:br>
            <a:br>
              <a:rPr lang="en-US" sz="2400" dirty="0"/>
            </a:br>
            <a:br>
              <a:rPr lang="en-US" sz="2400" dirty="0"/>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34664349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231E3-E307-1CBD-9252-153D1AF7EE5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1851B4-1231-DE86-BFDE-D641E4094067}"/>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3" name="Title 4">
            <a:extLst>
              <a:ext uri="{FF2B5EF4-FFF2-40B4-BE49-F238E27FC236}">
                <a16:creationId xmlns:a16="http://schemas.microsoft.com/office/drawing/2014/main" id="{49C63893-46B1-C65F-32CD-A35E3B200628}"/>
              </a:ext>
            </a:extLst>
          </p:cNvPr>
          <p:cNvSpPr>
            <a:spLocks noGrp="1"/>
          </p:cNvSpPr>
          <p:nvPr>
            <p:ph type="ctrTitle"/>
          </p:nvPr>
        </p:nvSpPr>
        <p:spPr>
          <a:xfrm>
            <a:off x="953999" y="2579715"/>
            <a:ext cx="10031157" cy="2160000"/>
          </a:xfrm>
        </p:spPr>
        <p:txBody>
          <a:bodyPr/>
          <a:lstStyle/>
          <a:p>
            <a:r>
              <a:rPr lang="en-US" dirty="0"/>
              <a:t>THANK YOU</a:t>
            </a:r>
            <a:endParaRPr lang="en-IN" dirty="0"/>
          </a:p>
        </p:txBody>
      </p:sp>
    </p:spTree>
    <p:extLst>
      <p:ext uri="{BB962C8B-B14F-4D97-AF65-F5344CB8AC3E}">
        <p14:creationId xmlns:p14="http://schemas.microsoft.com/office/powerpoint/2010/main" val="4143552564"/>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DD1FC41-23C7-41B0-B5F9-BF4CD38AD2ED}">
  <ds:schemaRefs>
    <ds:schemaRef ds:uri="http://schemas.microsoft.com/office/2006/documentManagement/types"/>
    <ds:schemaRef ds:uri="http://schemas.openxmlformats.org/package/2006/metadata/core-properties"/>
    <ds:schemaRef ds:uri="http://schemas.microsoft.com/office/infopath/2007/PartnerControls"/>
    <ds:schemaRef ds:uri="4ad138b4-2b68-4b70-945d-07f8f18b1c9a"/>
    <ds:schemaRef ds:uri="http://purl.org/dc/dcmitype/"/>
    <ds:schemaRef ds:uri="http://purl.org/dc/terms/"/>
    <ds:schemaRef ds:uri="http://schemas.microsoft.com/office/2006/metadata/properties"/>
    <ds:schemaRef ds:uri="3c474641-ec36-472f-b125-6b1b0910eaa4"/>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1127</TotalTime>
  <Words>959</Words>
  <Application>Microsoft Office PowerPoint</Application>
  <PresentationFormat>Widescreen</PresentationFormat>
  <Paragraphs>78</Paragraphs>
  <Slides>16</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Herts Theme</vt:lpstr>
      <vt:lpstr>Research Question –  Tutorial Presentation for Feedback Date:  </vt:lpstr>
      <vt:lpstr>Dataset ID: Mobius.csv (extracted from IoT Coins Dataset) Rows: 398 Variables used: Independent Variable: Opening Price (interval) Dependent Variable: Closing Price (interval)      </vt:lpstr>
      <vt:lpstr>This dataset is interesting to us because: Mobius is a small-cap cryptocurrency with strong intraday price variation, making it ideal for studying opening–closing price relationships. Variables used in our Research Question Opening Price (Independent variable – interval / numeric) Closing Price (Dependent variable – interval / numeric) </vt:lpstr>
      <vt:lpstr>“Is there a significant correlation between the daily opening price (independent variable) and the daily closing price (dependent variable) for the Mobius cryptocurrency?” This follows Template 1 (Correlation): “Is there a correlation between dependent interval variable and independent interval variable?”  </vt:lpstr>
      <vt:lpstr>PowerPoint Presentation</vt:lpstr>
      <vt:lpstr>Scatterplot: Opening vs Closing Price Shows the linear relationship between Opening (X-axis) and Closing Price (Y-axis). A strong upward trend is visible, meaning higher opening prices generally lead to higher closing prices. This directly supports our correlation-based RQ.    </vt:lpstr>
      <vt:lpstr>PowerPoint Presentation</vt:lpstr>
      <vt:lpstr>PowerPoint Presentation</vt:lpstr>
      <vt:lpstr>Histogram of Daily Closing Prices Displays how Mobius closing prices are distributed. The distribution is right-skewed: most prices are low, but occasional peaks occur. Histogram supports checking normality assumptions for Pearson’s correlation.     </vt:lpstr>
      <vt:lpstr>PowerPoint Presentation</vt:lpstr>
      <vt:lpstr>PowerPoint Presentation</vt:lpstr>
      <vt:lpstr>Statistical Test Used We use Pearson’s correlation coefficient because: Both variables (Opening and Closing Price) are continuous interval data. Pearson’s r measures linear association, which fits our scatterplot pattern. Commonly used in financial time-series analysis.      </vt:lpstr>
      <vt:lpstr>Pearson’s Correlation Test Output: Correlation (r): 0.9718 p-value &lt; 2.2e-16 95% CI: 0.9657 – 0.9768 Decision: p &lt; 0.05 → Reject H₀     </vt:lpstr>
      <vt:lpstr>Interpretation: The correlation is very strong and positive (r ≈ 0.97). This means when Mobius opens at a high price, it almost always closes high too. Indicates high intraday consistency, suggesting stable market behaviour for this asset. Supports existing financial literature showing structured intraday movement in crypto markets.      </vt:lpstr>
      <vt:lpstr>There is a strong and significant correlation between opening and closing prices.  This allows us to reject the null hypothesis. Mobius demonstrates predictable daily price movement, meaning opening price is a good indicator of closing price. Future work could explore: Non-linear relationships                                                          Volatility clustering                                                          Comparing Mobius with other cryptocurrencies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Harwood;tn25aau@herts.ac.uk</dc:creator>
  <cp:lastModifiedBy>Tejaswi Heggeri Naveen [Student-PECS]</cp:lastModifiedBy>
  <cp:revision>122</cp:revision>
  <dcterms:created xsi:type="dcterms:W3CDTF">2019-10-01T08:37:56Z</dcterms:created>
  <dcterms:modified xsi:type="dcterms:W3CDTF">2025-12-11T23:07:06Z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